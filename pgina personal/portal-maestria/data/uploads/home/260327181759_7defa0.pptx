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Sorts Mill Goudy" panose="020B0604020202020204" charset="0"/>
      <p:regular r:id="rId12"/>
    </p:embeddedFont>
  </p:embeddedFont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51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4314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98260" y="1590856"/>
            <a:ext cx="399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15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ESCUELA DE POSGRADO PUCP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003010" y="2009836"/>
            <a:ext cx="41814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Cambio de Plan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 Estudios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38762" y="3667154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4088735" y="3933805"/>
            <a:ext cx="4010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Maestría en Física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51607" y="5000406"/>
            <a:ext cx="528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Directrices para la transición del plan antiguo al nuevo plan de estudios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71" y="413655"/>
            <a:ext cx="314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4401" y="380971"/>
            <a:ext cx="4991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Idea General del Cambio de Plan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71" y="83810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94978" y="1793525"/>
            <a:ext cx="28015" cy="1200150"/>
          </a:xfrm>
          <a:custGeom>
            <a:avLst/>
            <a:gdLst/>
            <a:ahLst/>
            <a:cxnLst/>
            <a:rect l="l" t="t" r="r" b="b"/>
            <a:pathLst>
              <a:path w="28015" h="1200150">
                <a:moveTo>
                  <a:pt x="0" y="0"/>
                </a:moveTo>
                <a:lnTo>
                  <a:pt x="28015" y="0"/>
                </a:lnTo>
                <a:lnTo>
                  <a:pt x="28015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80421" y="198393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939076" y="1945855"/>
            <a:ext cx="608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Continuidad de Cursos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9076" y="2288670"/>
            <a:ext cx="60769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 mantienen los cursos del plan anterior, garantizando la continuidad académica y el reconocimiento de los estudios previos.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4978" y="3188570"/>
            <a:ext cx="28015" cy="1200150"/>
          </a:xfrm>
          <a:custGeom>
            <a:avLst/>
            <a:gdLst/>
            <a:ahLst/>
            <a:cxnLst/>
            <a:rect l="l" t="t" r="r" b="b"/>
            <a:pathLst>
              <a:path w="28015" h="1200150">
                <a:moveTo>
                  <a:pt x="0" y="0"/>
                </a:moveTo>
                <a:lnTo>
                  <a:pt x="28015" y="0"/>
                </a:lnTo>
                <a:lnTo>
                  <a:pt x="28015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575658" y="337898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929665" y="3340900"/>
            <a:ext cx="6096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Reorganización Curricular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29665" y="3683715"/>
            <a:ext cx="60864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 cambio principal es la 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reorganización de cursos obligatorios a electivos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permitiendo una mayor flexibilidad en la estructura del plan de estudios.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4978" y="4583615"/>
            <a:ext cx="28015" cy="1200150"/>
          </a:xfrm>
          <a:custGeom>
            <a:avLst/>
            <a:gdLst/>
            <a:ahLst/>
            <a:cxnLst/>
            <a:rect l="l" t="t" r="r" b="b"/>
            <a:pathLst>
              <a:path w="28015" h="1200150">
                <a:moveTo>
                  <a:pt x="0" y="0"/>
                </a:moveTo>
                <a:lnTo>
                  <a:pt x="28015" y="0"/>
                </a:lnTo>
                <a:lnTo>
                  <a:pt x="28015" y="1200150"/>
                </a:lnTo>
                <a:lnTo>
                  <a:pt x="0" y="12001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3283" y="4774027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974824" y="4735944"/>
            <a:ext cx="605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Nuevas Reglas del Seminario de Tesis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4824" y="5078760"/>
            <a:ext cx="604837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 curso antiguo de 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Seminario de Tesis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incorpora nuevas reglas y se divide en dos cursos independientes.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39029" y="1104757"/>
            <a:ext cx="4572000" cy="5372100"/>
          </a:xfrm>
          <a:custGeom>
            <a:avLst/>
            <a:gdLst/>
            <a:ahLst/>
            <a:cxnLst/>
            <a:rect l="l" t="t" r="r" b="b"/>
            <a:pathLst>
              <a:path w="4572000" h="5372100">
                <a:moveTo>
                  <a:pt x="76215" y="0"/>
                </a:moveTo>
                <a:lnTo>
                  <a:pt x="4495785" y="0"/>
                </a:lnTo>
                <a:cubicBezTo>
                  <a:pt x="4537877" y="0"/>
                  <a:pt x="4572000" y="34123"/>
                  <a:pt x="4572000" y="76215"/>
                </a:cubicBezTo>
                <a:lnTo>
                  <a:pt x="4572000" y="5295885"/>
                </a:lnTo>
                <a:cubicBezTo>
                  <a:pt x="4572000" y="5337977"/>
                  <a:pt x="4537877" y="5372100"/>
                  <a:pt x="4495785" y="5372100"/>
                </a:cubicBezTo>
                <a:lnTo>
                  <a:pt x="76215" y="5372100"/>
                </a:lnTo>
                <a:cubicBezTo>
                  <a:pt x="34123" y="5372100"/>
                  <a:pt x="0" y="5337977"/>
                  <a:pt x="0" y="5295885"/>
                </a:cubicBezTo>
                <a:lnTo>
                  <a:pt x="0" y="76215"/>
                </a:lnTo>
                <a:cubicBezTo>
                  <a:pt x="0" y="34151"/>
                  <a:pt x="34151" y="0"/>
                  <a:pt x="76215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9117838" y="2982399"/>
            <a:ext cx="809625" cy="552450"/>
          </a:xfrm>
          <a:custGeom>
            <a:avLst/>
            <a:gdLst/>
            <a:ahLst/>
            <a:cxnLst/>
            <a:rect l="l" t="t" r="r" b="b"/>
            <a:pathLst>
              <a:path w="809625" h="552450">
                <a:moveTo>
                  <a:pt x="76199" y="0"/>
                </a:moveTo>
                <a:lnTo>
                  <a:pt x="733426" y="0"/>
                </a:lnTo>
                <a:cubicBezTo>
                  <a:pt x="775509" y="0"/>
                  <a:pt x="809625" y="34116"/>
                  <a:pt x="809625" y="76199"/>
                </a:cubicBezTo>
                <a:lnTo>
                  <a:pt x="809625" y="476251"/>
                </a:lnTo>
                <a:cubicBezTo>
                  <a:pt x="809625" y="518334"/>
                  <a:pt x="775509" y="552450"/>
                  <a:pt x="733426" y="552450"/>
                </a:cubicBezTo>
                <a:lnTo>
                  <a:pt x="76199" y="552450"/>
                </a:lnTo>
                <a:cubicBezTo>
                  <a:pt x="34116" y="552450"/>
                  <a:pt x="0" y="518334"/>
                  <a:pt x="0" y="476251"/>
                </a:cubicBezTo>
                <a:lnTo>
                  <a:pt x="0" y="76199"/>
                </a:lnTo>
                <a:cubicBezTo>
                  <a:pt x="0" y="34116"/>
                  <a:pt x="34116" y="0"/>
                  <a:pt x="76199" y="0"/>
                </a:cubicBezTo>
                <a:close/>
              </a:path>
            </a:pathLst>
          </a:custGeom>
          <a:solidFill>
            <a:srgbClr val="8B0000"/>
          </a:solidFill>
          <a:ln/>
        </p:spPr>
        <p:txBody>
          <a:bodyPr/>
          <a:lstStyle/>
          <a:p>
            <a:endParaRPr lang="es-PE" dirty="0"/>
          </a:p>
        </p:txBody>
      </p:sp>
      <p:sp>
        <p:nvSpPr>
          <p:cNvPr id="19" name="Shape 17"/>
          <p:cNvSpPr/>
          <p:nvPr/>
        </p:nvSpPr>
        <p:spPr>
          <a:xfrm>
            <a:off x="9402366" y="3096646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232172"/>
                </a:lnTo>
                <a:cubicBezTo>
                  <a:pt x="0" y="251873"/>
                  <a:pt x="16018" y="267891"/>
                  <a:pt x="35719" y="267891"/>
                </a:cubicBezTo>
                <a:lnTo>
                  <a:pt x="214313" y="267891"/>
                </a:lnTo>
                <a:cubicBezTo>
                  <a:pt x="234014" y="267891"/>
                  <a:pt x="250031" y="251873"/>
                  <a:pt x="250031" y="232172"/>
                </a:cubicBezTo>
                <a:lnTo>
                  <a:pt x="250031" y="53578"/>
                </a:lnTo>
                <a:cubicBezTo>
                  <a:pt x="250031" y="33877"/>
                  <a:pt x="234014" y="17859"/>
                  <a:pt x="214313" y="17859"/>
                </a:cubicBezTo>
                <a:lnTo>
                  <a:pt x="35719" y="17859"/>
                </a:lnTo>
                <a:close/>
                <a:moveTo>
                  <a:pt x="71438" y="62508"/>
                </a:moveTo>
                <a:cubicBezTo>
                  <a:pt x="86223" y="62508"/>
                  <a:pt x="98227" y="74512"/>
                  <a:pt x="98227" y="89297"/>
                </a:cubicBezTo>
                <a:cubicBezTo>
                  <a:pt x="98227" y="104082"/>
                  <a:pt x="86223" y="116086"/>
                  <a:pt x="71438" y="116086"/>
                </a:cubicBezTo>
                <a:cubicBezTo>
                  <a:pt x="56652" y="116086"/>
                  <a:pt x="44648" y="104082"/>
                  <a:pt x="44648" y="89297"/>
                </a:cubicBezTo>
                <a:cubicBezTo>
                  <a:pt x="44648" y="74512"/>
                  <a:pt x="56652" y="62508"/>
                  <a:pt x="71438" y="62508"/>
                </a:cubicBezTo>
                <a:close/>
                <a:moveTo>
                  <a:pt x="151805" y="125016"/>
                </a:moveTo>
                <a:cubicBezTo>
                  <a:pt x="156493" y="125016"/>
                  <a:pt x="160790" y="127471"/>
                  <a:pt x="163246" y="131434"/>
                </a:cubicBezTo>
                <a:lnTo>
                  <a:pt x="212359" y="211801"/>
                </a:lnTo>
                <a:cubicBezTo>
                  <a:pt x="214871" y="215931"/>
                  <a:pt x="214982" y="221121"/>
                  <a:pt x="212638" y="225363"/>
                </a:cubicBezTo>
                <a:cubicBezTo>
                  <a:pt x="210294" y="229605"/>
                  <a:pt x="205773" y="232172"/>
                  <a:pt x="200918" y="232172"/>
                </a:cubicBezTo>
                <a:lnTo>
                  <a:pt x="49113" y="232172"/>
                </a:lnTo>
                <a:cubicBezTo>
                  <a:pt x="44146" y="232172"/>
                  <a:pt x="39514" y="229381"/>
                  <a:pt x="37226" y="224972"/>
                </a:cubicBezTo>
                <a:cubicBezTo>
                  <a:pt x="34937" y="220563"/>
                  <a:pt x="35272" y="215205"/>
                  <a:pt x="38119" y="211131"/>
                </a:cubicBezTo>
                <a:lnTo>
                  <a:pt x="69373" y="166483"/>
                </a:lnTo>
                <a:cubicBezTo>
                  <a:pt x="71884" y="162911"/>
                  <a:pt x="75958" y="160790"/>
                  <a:pt x="80367" y="160790"/>
                </a:cubicBezTo>
                <a:cubicBezTo>
                  <a:pt x="84776" y="160790"/>
                  <a:pt x="88850" y="162911"/>
                  <a:pt x="91362" y="166483"/>
                </a:cubicBezTo>
                <a:lnTo>
                  <a:pt x="106096" y="187579"/>
                </a:lnTo>
                <a:lnTo>
                  <a:pt x="140364" y="131490"/>
                </a:lnTo>
                <a:cubicBezTo>
                  <a:pt x="142819" y="127527"/>
                  <a:pt x="147117" y="125071"/>
                  <a:pt x="151805" y="12507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123643" y="3685174"/>
            <a:ext cx="2800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Figura 1: Esquema del cambio de plan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406" y="4027990"/>
            <a:ext cx="2790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Imagen2.jpg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33168" y="4408887"/>
            <a:ext cx="2781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(Imagen original del documento fuente)</a:t>
            </a:r>
            <a:endParaRPr lang="en-US" sz="16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45A2ED9-5E91-44C5-9749-E355CEF610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464" y="1648181"/>
            <a:ext cx="4757454" cy="391883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71" y="413655"/>
            <a:ext cx="3524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00951" y="380971"/>
            <a:ext cx="3848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Nuevos Cursos Electivos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71" y="83810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09546" y="114284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3088"/>
                </a:moveTo>
                <a:lnTo>
                  <a:pt x="114300" y="201186"/>
                </a:lnTo>
                <a:lnTo>
                  <a:pt x="114523" y="201097"/>
                </a:lnTo>
                <a:cubicBezTo>
                  <a:pt x="138901" y="190961"/>
                  <a:pt x="165065" y="185738"/>
                  <a:pt x="191453" y="185738"/>
                </a:cubicBezTo>
                <a:lnTo>
                  <a:pt x="200025" y="185738"/>
                </a:lnTo>
                <a:lnTo>
                  <a:pt x="200025" y="42863"/>
                </a:lnTo>
                <a:lnTo>
                  <a:pt x="191453" y="42863"/>
                </a:lnTo>
                <a:cubicBezTo>
                  <a:pt x="172611" y="42863"/>
                  <a:pt x="153903" y="46613"/>
                  <a:pt x="136490" y="53846"/>
                </a:cubicBezTo>
                <a:cubicBezTo>
                  <a:pt x="128989" y="56971"/>
                  <a:pt x="121578" y="60052"/>
                  <a:pt x="114300" y="63088"/>
                </a:cubicBezTo>
                <a:close/>
                <a:moveTo>
                  <a:pt x="103093" y="27459"/>
                </a:moveTo>
                <a:lnTo>
                  <a:pt x="114300" y="32147"/>
                </a:lnTo>
                <a:lnTo>
                  <a:pt x="125507" y="27459"/>
                </a:lnTo>
                <a:cubicBezTo>
                  <a:pt x="146402" y="18752"/>
                  <a:pt x="168816" y="14288"/>
                  <a:pt x="191453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192881"/>
                </a:lnTo>
                <a:cubicBezTo>
                  <a:pt x="228600" y="204713"/>
                  <a:pt x="219001" y="214313"/>
                  <a:pt x="207169" y="214313"/>
                </a:cubicBezTo>
                <a:lnTo>
                  <a:pt x="191453" y="214313"/>
                </a:lnTo>
                <a:cubicBezTo>
                  <a:pt x="168816" y="214313"/>
                  <a:pt x="146402" y="218777"/>
                  <a:pt x="125507" y="227484"/>
                </a:cubicBezTo>
                <a:lnTo>
                  <a:pt x="119792" y="229850"/>
                </a:lnTo>
                <a:cubicBezTo>
                  <a:pt x="116265" y="231324"/>
                  <a:pt x="112335" y="231324"/>
                  <a:pt x="108808" y="229850"/>
                </a:cubicBezTo>
                <a:lnTo>
                  <a:pt x="103093" y="227484"/>
                </a:lnTo>
                <a:cubicBezTo>
                  <a:pt x="82198" y="218777"/>
                  <a:pt x="59784" y="214313"/>
                  <a:pt x="37148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35719"/>
                </a:lnTo>
                <a:cubicBezTo>
                  <a:pt x="0" y="23887"/>
                  <a:pt x="9599" y="14288"/>
                  <a:pt x="21431" y="14288"/>
                </a:cubicBezTo>
                <a:lnTo>
                  <a:pt x="37148" y="14288"/>
                </a:lnTo>
                <a:cubicBezTo>
                  <a:pt x="59784" y="14288"/>
                  <a:pt x="82198" y="18752"/>
                  <a:pt x="103093" y="27459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666721" y="1104757"/>
            <a:ext cx="695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Cursos Disponibles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80971" y="2138045"/>
            <a:ext cx="3448050" cy="9338"/>
          </a:xfrm>
          <a:custGeom>
            <a:avLst/>
            <a:gdLst/>
            <a:ahLst/>
            <a:cxnLst/>
            <a:rect l="l" t="t" r="r" b="b"/>
            <a:pathLst>
              <a:path w="3448050" h="9338">
                <a:moveTo>
                  <a:pt x="0" y="0"/>
                </a:moveTo>
                <a:lnTo>
                  <a:pt x="3448050" y="0"/>
                </a:lnTo>
                <a:lnTo>
                  <a:pt x="3448050" y="9338"/>
                </a:lnTo>
                <a:lnTo>
                  <a:pt x="0" y="93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8" name="Shape 6"/>
          <p:cNvSpPr/>
          <p:nvPr/>
        </p:nvSpPr>
        <p:spPr>
          <a:xfrm>
            <a:off x="380971" y="17142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9" name="Text 7"/>
          <p:cNvSpPr/>
          <p:nvPr/>
        </p:nvSpPr>
        <p:spPr>
          <a:xfrm>
            <a:off x="347633" y="1714223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99951" y="1733264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Teoría de Campos 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57609" y="2138045"/>
            <a:ext cx="3448050" cy="9338"/>
          </a:xfrm>
          <a:custGeom>
            <a:avLst/>
            <a:gdLst/>
            <a:ahLst/>
            <a:cxnLst/>
            <a:rect l="l" t="t" r="r" b="b"/>
            <a:pathLst>
              <a:path w="3448050" h="9338">
                <a:moveTo>
                  <a:pt x="0" y="0"/>
                </a:moveTo>
                <a:lnTo>
                  <a:pt x="3448050" y="0"/>
                </a:lnTo>
                <a:lnTo>
                  <a:pt x="3448050" y="9338"/>
                </a:lnTo>
                <a:lnTo>
                  <a:pt x="0" y="93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4057609" y="17142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024272" y="1714223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76590" y="1733264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Teoría de Campos II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0971" y="2832941"/>
            <a:ext cx="3448050" cy="9338"/>
          </a:xfrm>
          <a:custGeom>
            <a:avLst/>
            <a:gdLst/>
            <a:ahLst/>
            <a:cxnLst/>
            <a:rect l="l" t="t" r="r" b="b"/>
            <a:pathLst>
              <a:path w="3448050" h="9338">
                <a:moveTo>
                  <a:pt x="0" y="0"/>
                </a:moveTo>
                <a:lnTo>
                  <a:pt x="3448050" y="0"/>
                </a:lnTo>
                <a:lnTo>
                  <a:pt x="3448050" y="9338"/>
                </a:lnTo>
                <a:lnTo>
                  <a:pt x="0" y="93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16" name="Shape 14"/>
          <p:cNvSpPr/>
          <p:nvPr/>
        </p:nvSpPr>
        <p:spPr>
          <a:xfrm>
            <a:off x="380971" y="24091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347633" y="2409119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99951" y="2428160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Astrofísica de Partículas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57609" y="2832941"/>
            <a:ext cx="3448050" cy="9338"/>
          </a:xfrm>
          <a:custGeom>
            <a:avLst/>
            <a:gdLst/>
            <a:ahLst/>
            <a:cxnLst/>
            <a:rect l="l" t="t" r="r" b="b"/>
            <a:pathLst>
              <a:path w="3448050" h="9338">
                <a:moveTo>
                  <a:pt x="0" y="0"/>
                </a:moveTo>
                <a:lnTo>
                  <a:pt x="3448050" y="0"/>
                </a:lnTo>
                <a:lnTo>
                  <a:pt x="3448050" y="9338"/>
                </a:lnTo>
                <a:lnTo>
                  <a:pt x="0" y="93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0" name="Shape 18"/>
          <p:cNvSpPr/>
          <p:nvPr/>
        </p:nvSpPr>
        <p:spPr>
          <a:xfrm>
            <a:off x="4057609" y="240911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024272" y="2409119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76590" y="2428160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Relatividad General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0971" y="3527837"/>
            <a:ext cx="3448050" cy="9338"/>
          </a:xfrm>
          <a:custGeom>
            <a:avLst/>
            <a:gdLst/>
            <a:ahLst/>
            <a:cxnLst/>
            <a:rect l="l" t="t" r="r" b="b"/>
            <a:pathLst>
              <a:path w="3448050" h="9338">
                <a:moveTo>
                  <a:pt x="0" y="0"/>
                </a:moveTo>
                <a:lnTo>
                  <a:pt x="3448050" y="0"/>
                </a:lnTo>
                <a:lnTo>
                  <a:pt x="3448050" y="9338"/>
                </a:lnTo>
                <a:lnTo>
                  <a:pt x="0" y="93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4" name="Shape 22"/>
          <p:cNvSpPr/>
          <p:nvPr/>
        </p:nvSpPr>
        <p:spPr>
          <a:xfrm>
            <a:off x="380971" y="31040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347633" y="310401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99951" y="3123056"/>
            <a:ext cx="971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Cosmología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057609" y="3527837"/>
            <a:ext cx="3448050" cy="9338"/>
          </a:xfrm>
          <a:custGeom>
            <a:avLst/>
            <a:gdLst/>
            <a:ahLst/>
            <a:cxnLst/>
            <a:rect l="l" t="t" r="r" b="b"/>
            <a:pathLst>
              <a:path w="3448050" h="9338">
                <a:moveTo>
                  <a:pt x="0" y="0"/>
                </a:moveTo>
                <a:lnTo>
                  <a:pt x="3448050" y="0"/>
                </a:lnTo>
                <a:lnTo>
                  <a:pt x="3448050" y="9338"/>
                </a:lnTo>
                <a:lnTo>
                  <a:pt x="0" y="933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/>
        </p:spPr>
      </p:sp>
      <p:sp>
        <p:nvSpPr>
          <p:cNvPr id="28" name="Shape 26"/>
          <p:cNvSpPr/>
          <p:nvPr/>
        </p:nvSpPr>
        <p:spPr>
          <a:xfrm>
            <a:off x="4057609" y="310401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4024272" y="310401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76590" y="3123056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Dinámica no Lineal y Caos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810485" y="1104757"/>
            <a:ext cx="4000500" cy="5372100"/>
          </a:xfrm>
          <a:custGeom>
            <a:avLst/>
            <a:gdLst/>
            <a:ahLst/>
            <a:cxnLst/>
            <a:rect l="l" t="t" r="r" b="b"/>
            <a:pathLst>
              <a:path w="4000500" h="5372100">
                <a:moveTo>
                  <a:pt x="76210" y="0"/>
                </a:moveTo>
                <a:lnTo>
                  <a:pt x="3924290" y="0"/>
                </a:lnTo>
                <a:cubicBezTo>
                  <a:pt x="3966380" y="0"/>
                  <a:pt x="4000500" y="34120"/>
                  <a:pt x="4000500" y="76210"/>
                </a:cubicBezTo>
                <a:lnTo>
                  <a:pt x="4000500" y="5295890"/>
                </a:lnTo>
                <a:cubicBezTo>
                  <a:pt x="4000500" y="5337980"/>
                  <a:pt x="3966380" y="5372100"/>
                  <a:pt x="3924290" y="5372100"/>
                </a:cubicBezTo>
                <a:lnTo>
                  <a:pt x="76210" y="5372100"/>
                </a:lnTo>
                <a:cubicBezTo>
                  <a:pt x="34120" y="5372100"/>
                  <a:pt x="0" y="5337980"/>
                  <a:pt x="0" y="5295890"/>
                </a:cubicBezTo>
                <a:lnTo>
                  <a:pt x="0" y="76210"/>
                </a:lnTo>
                <a:cubicBezTo>
                  <a:pt x="0" y="34148"/>
                  <a:pt x="34148" y="0"/>
                  <a:pt x="7621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2" name="Shape 30"/>
          <p:cNvSpPr/>
          <p:nvPr/>
        </p:nvSpPr>
        <p:spPr>
          <a:xfrm>
            <a:off x="8081916" y="1832847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0"/>
                </a:moveTo>
                <a:cubicBezTo>
                  <a:pt x="65053" y="0"/>
                  <a:pt x="71438" y="6385"/>
                  <a:pt x="71438" y="14288"/>
                </a:cubicBezTo>
                <a:lnTo>
                  <a:pt x="71438" y="28575"/>
                </a:lnTo>
                <a:lnTo>
                  <a:pt x="128588" y="28575"/>
                </a:lnTo>
                <a:lnTo>
                  <a:pt x="128588" y="14288"/>
                </a:lnTo>
                <a:cubicBezTo>
                  <a:pt x="128588" y="6385"/>
                  <a:pt x="134972" y="0"/>
                  <a:pt x="142875" y="0"/>
                </a:cubicBezTo>
                <a:cubicBezTo>
                  <a:pt x="150778" y="0"/>
                  <a:pt x="157163" y="6385"/>
                  <a:pt x="157163" y="14288"/>
                </a:cubicBezTo>
                <a:lnTo>
                  <a:pt x="157163" y="28575"/>
                </a:lnTo>
                <a:lnTo>
                  <a:pt x="171450" y="28575"/>
                </a:lnTo>
                <a:cubicBezTo>
                  <a:pt x="187211" y="28575"/>
                  <a:pt x="200025" y="41389"/>
                  <a:pt x="200025" y="57150"/>
                </a:cubicBezTo>
                <a:lnTo>
                  <a:pt x="200025" y="185738"/>
                </a:lnTo>
                <a:cubicBezTo>
                  <a:pt x="200025" y="201498"/>
                  <a:pt x="187211" y="214313"/>
                  <a:pt x="171450" y="214313"/>
                </a:cubicBezTo>
                <a:lnTo>
                  <a:pt x="28575" y="214313"/>
                </a:lnTo>
                <a:cubicBezTo>
                  <a:pt x="12814" y="214313"/>
                  <a:pt x="0" y="201498"/>
                  <a:pt x="0" y="185738"/>
                </a:cubicBezTo>
                <a:lnTo>
                  <a:pt x="0" y="57150"/>
                </a:lnTo>
                <a:cubicBezTo>
                  <a:pt x="0" y="41389"/>
                  <a:pt x="12814" y="28575"/>
                  <a:pt x="28575" y="28575"/>
                </a:cubicBezTo>
                <a:lnTo>
                  <a:pt x="42863" y="28575"/>
                </a:lnTo>
                <a:lnTo>
                  <a:pt x="42863" y="14288"/>
                </a:lnTo>
                <a:cubicBezTo>
                  <a:pt x="42863" y="6385"/>
                  <a:pt x="49247" y="0"/>
                  <a:pt x="57150" y="0"/>
                </a:cubicBezTo>
                <a:close/>
                <a:moveTo>
                  <a:pt x="28575" y="107156"/>
                </a:moveTo>
                <a:lnTo>
                  <a:pt x="28575" y="121444"/>
                </a:lnTo>
                <a:cubicBezTo>
                  <a:pt x="28575" y="125373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25373"/>
                  <a:pt x="57150" y="121444"/>
                </a:cubicBezTo>
                <a:lnTo>
                  <a:pt x="57150" y="107156"/>
                </a:lnTo>
                <a:cubicBezTo>
                  <a:pt x="57150" y="103227"/>
                  <a:pt x="53935" y="100013"/>
                  <a:pt x="50006" y="100013"/>
                </a:cubicBezTo>
                <a:lnTo>
                  <a:pt x="35719" y="100013"/>
                </a:lnTo>
                <a:cubicBezTo>
                  <a:pt x="31790" y="100013"/>
                  <a:pt x="28575" y="103227"/>
                  <a:pt x="28575" y="107156"/>
                </a:cubicBezTo>
                <a:close/>
                <a:moveTo>
                  <a:pt x="85725" y="107156"/>
                </a:moveTo>
                <a:lnTo>
                  <a:pt x="85725" y="121444"/>
                </a:lnTo>
                <a:cubicBezTo>
                  <a:pt x="85725" y="125373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25373"/>
                  <a:pt x="114300" y="121444"/>
                </a:cubicBezTo>
                <a:lnTo>
                  <a:pt x="114300" y="107156"/>
                </a:lnTo>
                <a:cubicBezTo>
                  <a:pt x="114300" y="103227"/>
                  <a:pt x="111085" y="100013"/>
                  <a:pt x="107156" y="100013"/>
                </a:cubicBezTo>
                <a:lnTo>
                  <a:pt x="92869" y="100013"/>
                </a:lnTo>
                <a:cubicBezTo>
                  <a:pt x="88940" y="100013"/>
                  <a:pt x="85725" y="103227"/>
                  <a:pt x="85725" y="107156"/>
                </a:cubicBezTo>
                <a:close/>
                <a:moveTo>
                  <a:pt x="150019" y="100013"/>
                </a:moveTo>
                <a:cubicBezTo>
                  <a:pt x="146090" y="100013"/>
                  <a:pt x="142875" y="103227"/>
                  <a:pt x="142875" y="107156"/>
                </a:cubicBezTo>
                <a:lnTo>
                  <a:pt x="142875" y="121444"/>
                </a:lnTo>
                <a:cubicBezTo>
                  <a:pt x="142875" y="125373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25373"/>
                  <a:pt x="171450" y="121444"/>
                </a:cubicBezTo>
                <a:lnTo>
                  <a:pt x="171450" y="107156"/>
                </a:lnTo>
                <a:cubicBezTo>
                  <a:pt x="171450" y="103227"/>
                  <a:pt x="168235" y="100013"/>
                  <a:pt x="164306" y="100013"/>
                </a:cubicBezTo>
                <a:lnTo>
                  <a:pt x="150019" y="100013"/>
                </a:lnTo>
                <a:close/>
                <a:moveTo>
                  <a:pt x="28575" y="164306"/>
                </a:move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50006" y="185738"/>
                </a:lnTo>
                <a:cubicBezTo>
                  <a:pt x="53935" y="185738"/>
                  <a:pt x="57150" y="182523"/>
                  <a:pt x="57150" y="178594"/>
                </a:cubicBezTo>
                <a:lnTo>
                  <a:pt x="57150" y="164306"/>
                </a:lnTo>
                <a:cubicBezTo>
                  <a:pt x="57150" y="160377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60377"/>
                  <a:pt x="28575" y="164306"/>
                </a:cubicBezTo>
                <a:close/>
                <a:moveTo>
                  <a:pt x="92869" y="157163"/>
                </a:moveTo>
                <a:cubicBezTo>
                  <a:pt x="88940" y="157163"/>
                  <a:pt x="85725" y="160377"/>
                  <a:pt x="85725" y="164306"/>
                </a:cubicBezTo>
                <a:lnTo>
                  <a:pt x="85725" y="178594"/>
                </a:lnTo>
                <a:cubicBezTo>
                  <a:pt x="85725" y="182523"/>
                  <a:pt x="88940" y="185738"/>
                  <a:pt x="92869" y="185738"/>
                </a:cubicBezTo>
                <a:lnTo>
                  <a:pt x="107156" y="185738"/>
                </a:lnTo>
                <a:cubicBezTo>
                  <a:pt x="111085" y="185738"/>
                  <a:pt x="114300" y="182523"/>
                  <a:pt x="114300" y="178594"/>
                </a:cubicBezTo>
                <a:lnTo>
                  <a:pt x="114300" y="164306"/>
                </a:lnTo>
                <a:cubicBezTo>
                  <a:pt x="114300" y="160377"/>
                  <a:pt x="111085" y="157163"/>
                  <a:pt x="107156" y="157163"/>
                </a:cubicBezTo>
                <a:lnTo>
                  <a:pt x="92869" y="157163"/>
                </a:lnTo>
                <a:close/>
                <a:moveTo>
                  <a:pt x="142875" y="164306"/>
                </a:moveTo>
                <a:lnTo>
                  <a:pt x="142875" y="178594"/>
                </a:lnTo>
                <a:cubicBezTo>
                  <a:pt x="142875" y="182523"/>
                  <a:pt x="146090" y="185738"/>
                  <a:pt x="150019" y="185738"/>
                </a:cubicBezTo>
                <a:lnTo>
                  <a:pt x="164306" y="185738"/>
                </a:lnTo>
                <a:cubicBezTo>
                  <a:pt x="168235" y="185738"/>
                  <a:pt x="171450" y="182523"/>
                  <a:pt x="171450" y="178594"/>
                </a:cubicBezTo>
                <a:lnTo>
                  <a:pt x="171450" y="164306"/>
                </a:lnTo>
                <a:cubicBezTo>
                  <a:pt x="171450" y="160377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60377"/>
                  <a:pt x="142875" y="164306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8324803" y="1794765"/>
            <a:ext cx="3371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Futuro: Próximo Semestre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53061" y="2289983"/>
            <a:ext cx="28015" cy="1066800"/>
          </a:xfrm>
          <a:custGeom>
            <a:avLst/>
            <a:gdLst/>
            <a:ahLst/>
            <a:cxnLst/>
            <a:rect l="l" t="t" r="r" b="b"/>
            <a:pathLst>
              <a:path w="28015" h="1066800">
                <a:moveTo>
                  <a:pt x="0" y="0"/>
                </a:moveTo>
                <a:lnTo>
                  <a:pt x="28015" y="0"/>
                </a:lnTo>
                <a:lnTo>
                  <a:pt x="2801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8219398" y="2404231"/>
            <a:ext cx="34480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Revisión de nomenclatura: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Revisar y, de ser necesario, ajustar los nombres de ciertos cursos electivos.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053061" y="3506435"/>
            <a:ext cx="28015" cy="1066800"/>
          </a:xfrm>
          <a:custGeom>
            <a:avLst/>
            <a:gdLst/>
            <a:ahLst/>
            <a:cxnLst/>
            <a:rect l="l" t="t" r="r" b="b"/>
            <a:pathLst>
              <a:path w="28015" h="1066800">
                <a:moveTo>
                  <a:pt x="0" y="0"/>
                </a:moveTo>
                <a:lnTo>
                  <a:pt x="28015" y="0"/>
                </a:lnTo>
                <a:lnTo>
                  <a:pt x="2801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8219398" y="3620681"/>
            <a:ext cx="34480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Propuestas por línea: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Cada línea de investigación debe proponer nuevos cursos electivos.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53061" y="4722885"/>
            <a:ext cx="28015" cy="1066800"/>
          </a:xfrm>
          <a:custGeom>
            <a:avLst/>
            <a:gdLst/>
            <a:ahLst/>
            <a:cxnLst/>
            <a:rect l="l" t="t" r="r" b="b"/>
            <a:pathLst>
              <a:path w="28015" h="1066800">
                <a:moveTo>
                  <a:pt x="0" y="0"/>
                </a:moveTo>
                <a:lnTo>
                  <a:pt x="28015" y="0"/>
                </a:lnTo>
                <a:lnTo>
                  <a:pt x="2801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8219398" y="4837134"/>
            <a:ext cx="344805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Creación interna: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Los nuevos cursos electivos podrán ser creados e incorporados dentro de la universidad.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71" y="413654"/>
            <a:ext cx="333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82640" y="380970"/>
            <a:ext cx="5124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Cambios en el Seminario de Tesis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71" y="83810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80971" y="1104756"/>
            <a:ext cx="6553200" cy="2647950"/>
          </a:xfrm>
          <a:custGeom>
            <a:avLst/>
            <a:gdLst/>
            <a:ahLst/>
            <a:cxnLst/>
            <a:rect l="l" t="t" r="r" b="b"/>
            <a:pathLst>
              <a:path w="6553200" h="2647950">
                <a:moveTo>
                  <a:pt x="76208" y="0"/>
                </a:moveTo>
                <a:lnTo>
                  <a:pt x="6476992" y="0"/>
                </a:lnTo>
                <a:cubicBezTo>
                  <a:pt x="6519052" y="0"/>
                  <a:pt x="6553200" y="34148"/>
                  <a:pt x="6553200" y="76208"/>
                </a:cubicBezTo>
                <a:lnTo>
                  <a:pt x="6553200" y="2571742"/>
                </a:lnTo>
                <a:cubicBezTo>
                  <a:pt x="6553200" y="2613831"/>
                  <a:pt x="6519081" y="2647950"/>
                  <a:pt x="6476992" y="2647950"/>
                </a:cubicBezTo>
                <a:lnTo>
                  <a:pt x="76208" y="2647950"/>
                </a:lnTo>
                <a:cubicBezTo>
                  <a:pt x="34119" y="2647950"/>
                  <a:pt x="0" y="2613831"/>
                  <a:pt x="0" y="257174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638114" y="137140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895289" y="1333323"/>
            <a:ext cx="5924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Nueva Estructura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539" y="1790386"/>
            <a:ext cx="61817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 el nuevo plan, el curso 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Seminario de Tesis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del plan antiguo se ha </a:t>
            </a:r>
            <a:r>
              <a:rPr lang="en-US" sz="135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separado en dos cursos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8877" y="2509139"/>
            <a:ext cx="2914276" cy="1009276"/>
          </a:xfrm>
          <a:custGeom>
            <a:avLst/>
            <a:gdLst/>
            <a:ahLst/>
            <a:cxnLst/>
            <a:rect l="l" t="t" r="r" b="b"/>
            <a:pathLst>
              <a:path w="2914276" h="1009276">
                <a:moveTo>
                  <a:pt x="76200" y="0"/>
                </a:moveTo>
                <a:lnTo>
                  <a:pt x="2838076" y="0"/>
                </a:lnTo>
                <a:cubicBezTo>
                  <a:pt x="2880160" y="0"/>
                  <a:pt x="2914276" y="34116"/>
                  <a:pt x="2914276" y="76200"/>
                </a:cubicBezTo>
                <a:lnTo>
                  <a:pt x="2914276" y="933076"/>
                </a:lnTo>
                <a:cubicBezTo>
                  <a:pt x="2914276" y="975160"/>
                  <a:pt x="2880160" y="1009276"/>
                  <a:pt x="2838076" y="1009276"/>
                </a:cubicBezTo>
                <a:lnTo>
                  <a:pt x="76200" y="1009276"/>
                </a:lnTo>
                <a:cubicBezTo>
                  <a:pt x="34116" y="1009276"/>
                  <a:pt x="0" y="975160"/>
                  <a:pt x="0" y="933076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24902">
            <a:solidFill>
              <a:srgbClr val="8B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53810" y="2670807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14313" y="285750"/>
                </a:moveTo>
                <a:lnTo>
                  <a:pt x="53578" y="285750"/>
                </a:lnTo>
                <a:cubicBezTo>
                  <a:pt x="23999" y="285750"/>
                  <a:pt x="0" y="261751"/>
                  <a:pt x="0" y="232172"/>
                </a:cubicBezTo>
                <a:lnTo>
                  <a:pt x="0" y="53578"/>
                </a:lnTo>
                <a:cubicBezTo>
                  <a:pt x="0" y="23999"/>
                  <a:pt x="23999" y="0"/>
                  <a:pt x="53578" y="0"/>
                </a:cubicBezTo>
                <a:lnTo>
                  <a:pt x="223242" y="0"/>
                </a:lnTo>
                <a:cubicBezTo>
                  <a:pt x="238032" y="0"/>
                  <a:pt x="250031" y="11999"/>
                  <a:pt x="250031" y="26789"/>
                </a:cubicBezTo>
                <a:lnTo>
                  <a:pt x="250031" y="187523"/>
                </a:lnTo>
                <a:cubicBezTo>
                  <a:pt x="250031" y="199188"/>
                  <a:pt x="242553" y="209122"/>
                  <a:pt x="232172" y="212806"/>
                </a:cubicBezTo>
                <a:lnTo>
                  <a:pt x="232172" y="250031"/>
                </a:lnTo>
                <a:cubicBezTo>
                  <a:pt x="242050" y="250031"/>
                  <a:pt x="250031" y="258012"/>
                  <a:pt x="250031" y="267891"/>
                </a:cubicBezTo>
                <a:cubicBezTo>
                  <a:pt x="250031" y="277769"/>
                  <a:pt x="242050" y="285750"/>
                  <a:pt x="232172" y="285750"/>
                </a:cubicBezTo>
                <a:lnTo>
                  <a:pt x="214313" y="285750"/>
                </a:lnTo>
                <a:close/>
                <a:moveTo>
                  <a:pt x="53578" y="214313"/>
                </a:moveTo>
                <a:cubicBezTo>
                  <a:pt x="43700" y="214313"/>
                  <a:pt x="35719" y="222293"/>
                  <a:pt x="35719" y="232172"/>
                </a:cubicBezTo>
                <a:cubicBezTo>
                  <a:pt x="35719" y="242050"/>
                  <a:pt x="43700" y="250031"/>
                  <a:pt x="53578" y="250031"/>
                </a:cubicBezTo>
                <a:lnTo>
                  <a:pt x="196453" y="250031"/>
                </a:lnTo>
                <a:lnTo>
                  <a:pt x="196453" y="214313"/>
                </a:lnTo>
                <a:lnTo>
                  <a:pt x="53578" y="214313"/>
                </a:lnTo>
                <a:close/>
                <a:moveTo>
                  <a:pt x="71438" y="84832"/>
                </a:moveTo>
                <a:cubicBezTo>
                  <a:pt x="71438" y="92255"/>
                  <a:pt x="77409" y="98227"/>
                  <a:pt x="84832" y="98227"/>
                </a:cubicBezTo>
                <a:lnTo>
                  <a:pt x="183059" y="98227"/>
                </a:lnTo>
                <a:cubicBezTo>
                  <a:pt x="190481" y="98227"/>
                  <a:pt x="196453" y="92255"/>
                  <a:pt x="196453" y="84832"/>
                </a:cubicBezTo>
                <a:cubicBezTo>
                  <a:pt x="196453" y="77409"/>
                  <a:pt x="190481" y="71438"/>
                  <a:pt x="183059" y="71438"/>
                </a:cubicBezTo>
                <a:lnTo>
                  <a:pt x="84832" y="71438"/>
                </a:lnTo>
                <a:cubicBezTo>
                  <a:pt x="77409" y="71438"/>
                  <a:pt x="71438" y="77409"/>
                  <a:pt x="71438" y="84832"/>
                </a:cubicBezTo>
                <a:close/>
                <a:moveTo>
                  <a:pt x="84832" y="125016"/>
                </a:moveTo>
                <a:cubicBezTo>
                  <a:pt x="77409" y="125016"/>
                  <a:pt x="71438" y="130987"/>
                  <a:pt x="71438" y="138410"/>
                </a:cubicBezTo>
                <a:cubicBezTo>
                  <a:pt x="71438" y="145833"/>
                  <a:pt x="77409" y="151805"/>
                  <a:pt x="84832" y="151805"/>
                </a:cubicBezTo>
                <a:lnTo>
                  <a:pt x="183059" y="151805"/>
                </a:lnTo>
                <a:cubicBezTo>
                  <a:pt x="190481" y="151805"/>
                  <a:pt x="196453" y="145833"/>
                  <a:pt x="196453" y="138410"/>
                </a:cubicBezTo>
                <a:cubicBezTo>
                  <a:pt x="196453" y="130987"/>
                  <a:pt x="190481" y="125016"/>
                  <a:pt x="183059" y="125016"/>
                </a:cubicBezTo>
                <a:lnTo>
                  <a:pt x="84832" y="125016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32920" y="3089860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Seminario de Tesis 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81256" y="2509139"/>
            <a:ext cx="2914276" cy="1009276"/>
          </a:xfrm>
          <a:custGeom>
            <a:avLst/>
            <a:gdLst/>
            <a:ahLst/>
            <a:cxnLst/>
            <a:rect l="l" t="t" r="r" b="b"/>
            <a:pathLst>
              <a:path w="2914276" h="1009276">
                <a:moveTo>
                  <a:pt x="76200" y="0"/>
                </a:moveTo>
                <a:lnTo>
                  <a:pt x="2838076" y="0"/>
                </a:lnTo>
                <a:cubicBezTo>
                  <a:pt x="2880160" y="0"/>
                  <a:pt x="2914276" y="34116"/>
                  <a:pt x="2914276" y="76200"/>
                </a:cubicBezTo>
                <a:lnTo>
                  <a:pt x="2914276" y="933076"/>
                </a:lnTo>
                <a:cubicBezTo>
                  <a:pt x="2914276" y="975160"/>
                  <a:pt x="2880160" y="1009276"/>
                  <a:pt x="2838076" y="1009276"/>
                </a:cubicBezTo>
                <a:lnTo>
                  <a:pt x="76200" y="1009276"/>
                </a:lnTo>
                <a:cubicBezTo>
                  <a:pt x="34116" y="1009276"/>
                  <a:pt x="0" y="975160"/>
                  <a:pt x="0" y="933076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24902">
            <a:solidFill>
              <a:srgbClr val="8B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16189" y="2670807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14313" y="285750"/>
                </a:moveTo>
                <a:lnTo>
                  <a:pt x="53578" y="285750"/>
                </a:lnTo>
                <a:cubicBezTo>
                  <a:pt x="23999" y="285750"/>
                  <a:pt x="0" y="261751"/>
                  <a:pt x="0" y="232172"/>
                </a:cubicBezTo>
                <a:lnTo>
                  <a:pt x="0" y="53578"/>
                </a:lnTo>
                <a:cubicBezTo>
                  <a:pt x="0" y="23999"/>
                  <a:pt x="23999" y="0"/>
                  <a:pt x="53578" y="0"/>
                </a:cubicBezTo>
                <a:lnTo>
                  <a:pt x="223242" y="0"/>
                </a:lnTo>
                <a:cubicBezTo>
                  <a:pt x="238032" y="0"/>
                  <a:pt x="250031" y="11999"/>
                  <a:pt x="250031" y="26789"/>
                </a:cubicBezTo>
                <a:lnTo>
                  <a:pt x="250031" y="187523"/>
                </a:lnTo>
                <a:cubicBezTo>
                  <a:pt x="250031" y="199188"/>
                  <a:pt x="242553" y="209122"/>
                  <a:pt x="232172" y="212806"/>
                </a:cubicBezTo>
                <a:lnTo>
                  <a:pt x="232172" y="250031"/>
                </a:lnTo>
                <a:cubicBezTo>
                  <a:pt x="242050" y="250031"/>
                  <a:pt x="250031" y="258012"/>
                  <a:pt x="250031" y="267891"/>
                </a:cubicBezTo>
                <a:cubicBezTo>
                  <a:pt x="250031" y="277769"/>
                  <a:pt x="242050" y="285750"/>
                  <a:pt x="232172" y="285750"/>
                </a:cubicBezTo>
                <a:lnTo>
                  <a:pt x="214313" y="285750"/>
                </a:lnTo>
                <a:close/>
                <a:moveTo>
                  <a:pt x="53578" y="214313"/>
                </a:moveTo>
                <a:cubicBezTo>
                  <a:pt x="43700" y="214313"/>
                  <a:pt x="35719" y="222293"/>
                  <a:pt x="35719" y="232172"/>
                </a:cubicBezTo>
                <a:cubicBezTo>
                  <a:pt x="35719" y="242050"/>
                  <a:pt x="43700" y="250031"/>
                  <a:pt x="53578" y="250031"/>
                </a:cubicBezTo>
                <a:lnTo>
                  <a:pt x="196453" y="250031"/>
                </a:lnTo>
                <a:lnTo>
                  <a:pt x="196453" y="214313"/>
                </a:lnTo>
                <a:lnTo>
                  <a:pt x="53578" y="214313"/>
                </a:lnTo>
                <a:close/>
                <a:moveTo>
                  <a:pt x="71438" y="84832"/>
                </a:moveTo>
                <a:cubicBezTo>
                  <a:pt x="71438" y="92255"/>
                  <a:pt x="77409" y="98227"/>
                  <a:pt x="84832" y="98227"/>
                </a:cubicBezTo>
                <a:lnTo>
                  <a:pt x="183059" y="98227"/>
                </a:lnTo>
                <a:cubicBezTo>
                  <a:pt x="190481" y="98227"/>
                  <a:pt x="196453" y="92255"/>
                  <a:pt x="196453" y="84832"/>
                </a:cubicBezTo>
                <a:cubicBezTo>
                  <a:pt x="196453" y="77409"/>
                  <a:pt x="190481" y="71438"/>
                  <a:pt x="183059" y="71438"/>
                </a:cubicBezTo>
                <a:lnTo>
                  <a:pt x="84832" y="71438"/>
                </a:lnTo>
                <a:cubicBezTo>
                  <a:pt x="77409" y="71438"/>
                  <a:pt x="71438" y="77409"/>
                  <a:pt x="71438" y="84832"/>
                </a:cubicBezTo>
                <a:close/>
                <a:moveTo>
                  <a:pt x="84832" y="125016"/>
                </a:moveTo>
                <a:cubicBezTo>
                  <a:pt x="77409" y="125016"/>
                  <a:pt x="71438" y="130987"/>
                  <a:pt x="71438" y="138410"/>
                </a:cubicBezTo>
                <a:cubicBezTo>
                  <a:pt x="71438" y="145833"/>
                  <a:pt x="77409" y="151805"/>
                  <a:pt x="84832" y="151805"/>
                </a:cubicBezTo>
                <a:lnTo>
                  <a:pt x="183059" y="151805"/>
                </a:lnTo>
                <a:cubicBezTo>
                  <a:pt x="190481" y="151805"/>
                  <a:pt x="196453" y="145833"/>
                  <a:pt x="196453" y="138410"/>
                </a:cubicBezTo>
                <a:cubicBezTo>
                  <a:pt x="196453" y="130987"/>
                  <a:pt x="190481" y="125016"/>
                  <a:pt x="183059" y="125016"/>
                </a:cubicBezTo>
                <a:lnTo>
                  <a:pt x="84832" y="125016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3895299" y="3089860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Seminario de Tesis 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0971" y="3984654"/>
            <a:ext cx="6553200" cy="1314450"/>
          </a:xfrm>
          <a:custGeom>
            <a:avLst/>
            <a:gdLst/>
            <a:ahLst/>
            <a:cxnLst/>
            <a:rect l="l" t="t" r="r" b="b"/>
            <a:pathLst>
              <a:path w="6553200" h="1314450">
                <a:moveTo>
                  <a:pt x="76199" y="0"/>
                </a:moveTo>
                <a:lnTo>
                  <a:pt x="6477001" y="0"/>
                </a:lnTo>
                <a:cubicBezTo>
                  <a:pt x="6519085" y="0"/>
                  <a:pt x="6553200" y="34115"/>
                  <a:pt x="6553200" y="76199"/>
                </a:cubicBezTo>
                <a:lnTo>
                  <a:pt x="6553200" y="1238251"/>
                </a:lnTo>
                <a:cubicBezTo>
                  <a:pt x="6553200" y="1280335"/>
                  <a:pt x="6519085" y="1314450"/>
                  <a:pt x="6477001" y="1314450"/>
                </a:cubicBezTo>
                <a:lnTo>
                  <a:pt x="76199" y="1314450"/>
                </a:lnTo>
                <a:cubicBezTo>
                  <a:pt x="34115" y="1314450"/>
                  <a:pt x="0" y="1280335"/>
                  <a:pt x="0" y="1238251"/>
                </a:cubicBezTo>
                <a:lnTo>
                  <a:pt x="0" y="76199"/>
                </a:lnTo>
                <a:cubicBezTo>
                  <a:pt x="0" y="34143"/>
                  <a:pt x="34143" y="0"/>
                  <a:pt x="76199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628606" y="419418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971395" y="4175138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Nota Importante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1456" y="4556036"/>
            <a:ext cx="62579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Esta división permite una mejor evaluación del progreso de la tesis en dos etapas distintas del proceso de investigación.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39029" y="1104756"/>
            <a:ext cx="4572000" cy="5372100"/>
          </a:xfrm>
          <a:custGeom>
            <a:avLst/>
            <a:gdLst/>
            <a:ahLst/>
            <a:cxnLst/>
            <a:rect l="l" t="t" r="r" b="b"/>
            <a:pathLst>
              <a:path w="4572000" h="5372100">
                <a:moveTo>
                  <a:pt x="76215" y="0"/>
                </a:moveTo>
                <a:lnTo>
                  <a:pt x="4495785" y="0"/>
                </a:lnTo>
                <a:cubicBezTo>
                  <a:pt x="4537877" y="0"/>
                  <a:pt x="4572000" y="34123"/>
                  <a:pt x="4572000" y="76215"/>
                </a:cubicBezTo>
                <a:lnTo>
                  <a:pt x="4572000" y="5295885"/>
                </a:lnTo>
                <a:cubicBezTo>
                  <a:pt x="4572000" y="5337977"/>
                  <a:pt x="4537877" y="5372100"/>
                  <a:pt x="4495785" y="5372100"/>
                </a:cubicBezTo>
                <a:lnTo>
                  <a:pt x="76215" y="5372100"/>
                </a:lnTo>
                <a:cubicBezTo>
                  <a:pt x="34123" y="5372100"/>
                  <a:pt x="0" y="5337977"/>
                  <a:pt x="0" y="5295885"/>
                </a:cubicBezTo>
                <a:lnTo>
                  <a:pt x="0" y="76215"/>
                </a:lnTo>
                <a:cubicBezTo>
                  <a:pt x="0" y="34151"/>
                  <a:pt x="34151" y="0"/>
                  <a:pt x="76215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524747" y="1371407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53347" y="1333323"/>
            <a:ext cx="3943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Precisiones para el Plan Antiguo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81604" y="1828542"/>
            <a:ext cx="28015" cy="1066800"/>
          </a:xfrm>
          <a:custGeom>
            <a:avLst/>
            <a:gdLst/>
            <a:ahLst/>
            <a:cxnLst/>
            <a:rect l="l" t="t" r="r" b="b"/>
            <a:pathLst>
              <a:path w="28015" h="1066800">
                <a:moveTo>
                  <a:pt x="0" y="0"/>
                </a:moveTo>
                <a:lnTo>
                  <a:pt x="28015" y="0"/>
                </a:lnTo>
                <a:lnTo>
                  <a:pt x="28015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7647942" y="1942791"/>
            <a:ext cx="190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863743" y="1942791"/>
            <a:ext cx="38004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Para matricularse en 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Seminario de Tesis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el estudiante debe contar con la </a:t>
            </a:r>
            <a:r>
              <a:rPr lang="en-US" sz="135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conformidad de su profesor asesor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481604" y="3044993"/>
            <a:ext cx="28015" cy="781050"/>
          </a:xfrm>
          <a:custGeom>
            <a:avLst/>
            <a:gdLst/>
            <a:ahLst/>
            <a:cxnLst/>
            <a:rect l="l" t="t" r="r" b="b"/>
            <a:pathLst>
              <a:path w="28015" h="781050">
                <a:moveTo>
                  <a:pt x="0" y="0"/>
                </a:moveTo>
                <a:lnTo>
                  <a:pt x="28015" y="0"/>
                </a:lnTo>
                <a:lnTo>
                  <a:pt x="28015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7647942" y="3159242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885702" y="3159242"/>
            <a:ext cx="37814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 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aprobación del curso no requiere la defensa de la tesis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81604" y="3982903"/>
            <a:ext cx="28015" cy="1343025"/>
          </a:xfrm>
          <a:custGeom>
            <a:avLst/>
            <a:gdLst/>
            <a:ahLst/>
            <a:cxnLst/>
            <a:rect l="l" t="t" r="r" b="b"/>
            <a:pathLst>
              <a:path w="28015" h="1343025">
                <a:moveTo>
                  <a:pt x="0" y="0"/>
                </a:moveTo>
                <a:lnTo>
                  <a:pt x="28015" y="0"/>
                </a:lnTo>
                <a:lnTo>
                  <a:pt x="28015" y="1343025"/>
                </a:lnTo>
                <a:lnTo>
                  <a:pt x="0" y="1343025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7647942" y="4097150"/>
            <a:ext cx="20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874686" y="4097150"/>
            <a:ext cx="3790950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 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nota final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del semestre será asignada por el 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profesor asesor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de acuerdo con el avance y el trabajo realizado por el estudiante durante el curso.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71" y="413654"/>
            <a:ext cx="361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11238" y="380970"/>
            <a:ext cx="4086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Plan de Transición - Plazos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71" y="83810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80971" y="1110083"/>
            <a:ext cx="11430000" cy="2800350"/>
          </a:xfrm>
          <a:custGeom>
            <a:avLst/>
            <a:gdLst/>
            <a:ahLst/>
            <a:cxnLst/>
            <a:rect l="l" t="t" r="r" b="b"/>
            <a:pathLst>
              <a:path w="11430000" h="2800350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2724152"/>
                </a:lnTo>
                <a:cubicBezTo>
                  <a:pt x="11430000" y="2766235"/>
                  <a:pt x="11395885" y="2800350"/>
                  <a:pt x="11353802" y="2800350"/>
                </a:cubicBezTo>
                <a:lnTo>
                  <a:pt x="76198" y="2800350"/>
                </a:lnTo>
                <a:cubicBezTo>
                  <a:pt x="34115" y="2800350"/>
                  <a:pt x="0" y="2766235"/>
                  <a:pt x="0" y="27241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685704" y="1414816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916627" y="1624343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85725" y="0"/>
                </a:moveTo>
                <a:cubicBezTo>
                  <a:pt x="97579" y="0"/>
                  <a:pt x="107156" y="9577"/>
                  <a:pt x="107156" y="21431"/>
                </a:cubicBezTo>
                <a:lnTo>
                  <a:pt x="107156" y="42863"/>
                </a:lnTo>
                <a:lnTo>
                  <a:pt x="192881" y="42863"/>
                </a:lnTo>
                <a:lnTo>
                  <a:pt x="192881" y="21431"/>
                </a:lnTo>
                <a:cubicBezTo>
                  <a:pt x="192881" y="9577"/>
                  <a:pt x="202458" y="0"/>
                  <a:pt x="214313" y="0"/>
                </a:cubicBezTo>
                <a:cubicBezTo>
                  <a:pt x="226167" y="0"/>
                  <a:pt x="235744" y="9577"/>
                  <a:pt x="235744" y="21431"/>
                </a:cubicBezTo>
                <a:lnTo>
                  <a:pt x="235744" y="42863"/>
                </a:lnTo>
                <a:lnTo>
                  <a:pt x="257175" y="42863"/>
                </a:lnTo>
                <a:cubicBezTo>
                  <a:pt x="280816" y="42863"/>
                  <a:pt x="300038" y="62084"/>
                  <a:pt x="300038" y="85725"/>
                </a:cubicBezTo>
                <a:lnTo>
                  <a:pt x="300038" y="278606"/>
                </a:lnTo>
                <a:cubicBezTo>
                  <a:pt x="300038" y="302248"/>
                  <a:pt x="280816" y="321469"/>
                  <a:pt x="257175" y="321469"/>
                </a:cubicBezTo>
                <a:lnTo>
                  <a:pt x="42863" y="321469"/>
                </a:lnTo>
                <a:cubicBezTo>
                  <a:pt x="19221" y="321469"/>
                  <a:pt x="0" y="302248"/>
                  <a:pt x="0" y="278606"/>
                </a:cubicBezTo>
                <a:lnTo>
                  <a:pt x="0" y="85725"/>
                </a:lnTo>
                <a:cubicBezTo>
                  <a:pt x="0" y="62084"/>
                  <a:pt x="19221" y="42863"/>
                  <a:pt x="42863" y="42863"/>
                </a:cubicBezTo>
                <a:lnTo>
                  <a:pt x="64294" y="42863"/>
                </a:lnTo>
                <a:lnTo>
                  <a:pt x="64294" y="21431"/>
                </a:lnTo>
                <a:cubicBezTo>
                  <a:pt x="64294" y="9577"/>
                  <a:pt x="73871" y="0"/>
                  <a:pt x="85725" y="0"/>
                </a:cubicBezTo>
                <a:close/>
                <a:moveTo>
                  <a:pt x="206544" y="153166"/>
                </a:moveTo>
                <a:cubicBezTo>
                  <a:pt x="211232" y="145666"/>
                  <a:pt x="208955" y="135754"/>
                  <a:pt x="201454" y="130999"/>
                </a:cubicBezTo>
                <a:cubicBezTo>
                  <a:pt x="193953" y="126243"/>
                  <a:pt x="184041" y="128588"/>
                  <a:pt x="179286" y="136088"/>
                </a:cubicBezTo>
                <a:lnTo>
                  <a:pt x="138165" y="201923"/>
                </a:lnTo>
                <a:lnTo>
                  <a:pt x="120082" y="177812"/>
                </a:lnTo>
                <a:cubicBezTo>
                  <a:pt x="114724" y="170713"/>
                  <a:pt x="104678" y="169240"/>
                  <a:pt x="97579" y="174598"/>
                </a:cubicBezTo>
                <a:cubicBezTo>
                  <a:pt x="90480" y="179956"/>
                  <a:pt x="89007" y="190001"/>
                  <a:pt x="94364" y="197101"/>
                </a:cubicBezTo>
                <a:lnTo>
                  <a:pt x="126511" y="239963"/>
                </a:lnTo>
                <a:cubicBezTo>
                  <a:pt x="129659" y="244182"/>
                  <a:pt x="134749" y="246593"/>
                  <a:pt x="140040" y="246392"/>
                </a:cubicBezTo>
                <a:cubicBezTo>
                  <a:pt x="145331" y="246191"/>
                  <a:pt x="150153" y="243379"/>
                  <a:pt x="152966" y="238824"/>
                </a:cubicBezTo>
                <a:lnTo>
                  <a:pt x="206544" y="15309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676213" y="1452897"/>
            <a:ext cx="99726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Plazo para Estudiantes del Plan Antiguo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76213" y="1871951"/>
            <a:ext cx="992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Período de transición hacia el nuevo plan de estudios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4380" y="2405325"/>
            <a:ext cx="10800976" cy="1200150"/>
          </a:xfrm>
          <a:custGeom>
            <a:avLst/>
            <a:gdLst/>
            <a:ahLst/>
            <a:cxnLst/>
            <a:rect l="l" t="t" r="r" b="b"/>
            <a:pathLst>
              <a:path w="10800976" h="1200150">
                <a:moveTo>
                  <a:pt x="37353" y="0"/>
                </a:moveTo>
                <a:lnTo>
                  <a:pt x="10724779" y="0"/>
                </a:lnTo>
                <a:cubicBezTo>
                  <a:pt x="10766862" y="0"/>
                  <a:pt x="10800976" y="34115"/>
                  <a:pt x="10800976" y="76198"/>
                </a:cubicBezTo>
                <a:lnTo>
                  <a:pt x="10800976" y="1123952"/>
                </a:lnTo>
                <a:cubicBezTo>
                  <a:pt x="10800976" y="1166035"/>
                  <a:pt x="10766862" y="1200150"/>
                  <a:pt x="10724779" y="1200150"/>
                </a:cubicBezTo>
                <a:lnTo>
                  <a:pt x="37353" y="1200150"/>
                </a:lnTo>
                <a:cubicBezTo>
                  <a:pt x="16723" y="1200150"/>
                  <a:pt x="0" y="1183427"/>
                  <a:pt x="0" y="116279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704380" y="2405325"/>
            <a:ext cx="37353" cy="1200150"/>
          </a:xfrm>
          <a:custGeom>
            <a:avLst/>
            <a:gdLst/>
            <a:ahLst/>
            <a:cxnLst/>
            <a:rect l="l" t="t" r="r" b="b"/>
            <a:pathLst>
              <a:path w="37353" h="1200150">
                <a:moveTo>
                  <a:pt x="37353" y="0"/>
                </a:moveTo>
                <a:lnTo>
                  <a:pt x="37353" y="0"/>
                </a:lnTo>
                <a:lnTo>
                  <a:pt x="37353" y="1200150"/>
                </a:lnTo>
                <a:lnTo>
                  <a:pt x="37353" y="1200150"/>
                </a:lnTo>
                <a:cubicBezTo>
                  <a:pt x="16723" y="1200150"/>
                  <a:pt x="0" y="1183427"/>
                  <a:pt x="0" y="116279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951625" y="2633893"/>
            <a:ext cx="10439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Los estudiantes del plan antiguo tendrán plazo hasta el semestre </a:t>
            </a: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2027-2</a:t>
            </a:r>
            <a:r>
              <a:rPr lang="en-US" sz="18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para culminar sus estudios bajo ese plan.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0971" y="4138589"/>
            <a:ext cx="11430000" cy="1495425"/>
          </a:xfrm>
          <a:custGeom>
            <a:avLst/>
            <a:gdLst/>
            <a:ahLst/>
            <a:cxnLst/>
            <a:rect l="l" t="t" r="r" b="b"/>
            <a:pathLst>
              <a:path w="11430000" h="1495425">
                <a:moveTo>
                  <a:pt x="76207" y="0"/>
                </a:moveTo>
                <a:lnTo>
                  <a:pt x="11353793" y="0"/>
                </a:lnTo>
                <a:cubicBezTo>
                  <a:pt x="11395881" y="0"/>
                  <a:pt x="11430000" y="34119"/>
                  <a:pt x="11430000" y="76207"/>
                </a:cubicBezTo>
                <a:lnTo>
                  <a:pt x="11430000" y="1419218"/>
                </a:lnTo>
                <a:cubicBezTo>
                  <a:pt x="11430000" y="1461306"/>
                  <a:pt x="11395881" y="1495425"/>
                  <a:pt x="11353793" y="1495425"/>
                </a:cubicBezTo>
                <a:lnTo>
                  <a:pt x="76207" y="1495425"/>
                </a:lnTo>
                <a:cubicBezTo>
                  <a:pt x="34119" y="1495425"/>
                  <a:pt x="0" y="1461306"/>
                  <a:pt x="0" y="1419218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04776" y="4405238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33845" y="4367157"/>
            <a:ext cx="10658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Transición Automática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33845" y="4786138"/>
            <a:ext cx="1063942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 no concluyen dentro de ese plazo, </a:t>
            </a: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pasarán automáticamente al plan nuevo</a:t>
            </a:r>
            <a:r>
              <a:rPr lang="en-US" sz="15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 Es responsabilidad del estudiante planificar su trayectoria académica considerando este plazo.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012996" y="5862224"/>
            <a:ext cx="1323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Plan Antiguo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98708" y="6166956"/>
            <a:ext cx="1352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Hasta 2027-2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45950" y="5969466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36605" y="186586"/>
                </a:moveTo>
                <a:cubicBezTo>
                  <a:pt x="344976" y="178214"/>
                  <a:pt x="344976" y="164619"/>
                  <a:pt x="336605" y="156247"/>
                </a:cubicBezTo>
                <a:lnTo>
                  <a:pt x="229448" y="49091"/>
                </a:lnTo>
                <a:cubicBezTo>
                  <a:pt x="221077" y="40719"/>
                  <a:pt x="207481" y="40719"/>
                  <a:pt x="199110" y="49091"/>
                </a:cubicBezTo>
                <a:cubicBezTo>
                  <a:pt x="190738" y="57463"/>
                  <a:pt x="190738" y="71058"/>
                  <a:pt x="199110" y="79430"/>
                </a:cubicBezTo>
                <a:lnTo>
                  <a:pt x="269699" y="150019"/>
                </a:lnTo>
                <a:lnTo>
                  <a:pt x="21431" y="150019"/>
                </a:lnTo>
                <a:cubicBezTo>
                  <a:pt x="9577" y="150019"/>
                  <a:pt x="0" y="159596"/>
                  <a:pt x="0" y="171450"/>
                </a:cubicBezTo>
                <a:cubicBezTo>
                  <a:pt x="0" y="183304"/>
                  <a:pt x="9577" y="192881"/>
                  <a:pt x="21431" y="192881"/>
                </a:cubicBezTo>
                <a:lnTo>
                  <a:pt x="269699" y="192881"/>
                </a:lnTo>
                <a:lnTo>
                  <a:pt x="199110" y="263470"/>
                </a:lnTo>
                <a:cubicBezTo>
                  <a:pt x="190738" y="271842"/>
                  <a:pt x="190738" y="285437"/>
                  <a:pt x="199110" y="293809"/>
                </a:cubicBezTo>
                <a:cubicBezTo>
                  <a:pt x="207481" y="302181"/>
                  <a:pt x="221077" y="302181"/>
                  <a:pt x="229448" y="293809"/>
                </a:cubicBezTo>
                <a:lnTo>
                  <a:pt x="336605" y="186653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6293568" y="5862224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Plan Nuevo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79281" y="6166956"/>
            <a:ext cx="1914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Después de 2027-2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71" y="413654"/>
            <a:ext cx="314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4984" y="380970"/>
            <a:ext cx="4010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Tipos de Convalidaciones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71" y="83810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80971" y="990437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Para pasar del plan antiguo al nuevo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971" y="1485656"/>
            <a:ext cx="3657600" cy="4267200"/>
          </a:xfrm>
          <a:custGeom>
            <a:avLst/>
            <a:gdLst/>
            <a:ahLst/>
            <a:cxnLst/>
            <a:rect l="l" t="t" r="r" b="b"/>
            <a:pathLst>
              <a:path w="3657600" h="4267200">
                <a:moveTo>
                  <a:pt x="76188" y="0"/>
                </a:moveTo>
                <a:lnTo>
                  <a:pt x="3581412" y="0"/>
                </a:lnTo>
                <a:cubicBezTo>
                  <a:pt x="3623490" y="0"/>
                  <a:pt x="3657600" y="34110"/>
                  <a:pt x="3657600" y="76188"/>
                </a:cubicBezTo>
                <a:lnTo>
                  <a:pt x="3657600" y="4191012"/>
                </a:lnTo>
                <a:cubicBezTo>
                  <a:pt x="3657600" y="4233090"/>
                  <a:pt x="3623490" y="4267200"/>
                  <a:pt x="3581412" y="4267200"/>
                </a:cubicBezTo>
                <a:lnTo>
                  <a:pt x="76188" y="4267200"/>
                </a:lnTo>
                <a:cubicBezTo>
                  <a:pt x="34110" y="4267200"/>
                  <a:pt x="0" y="4233090"/>
                  <a:pt x="0" y="4191012"/>
                </a:cubicBezTo>
                <a:lnTo>
                  <a:pt x="0" y="76188"/>
                </a:lnTo>
                <a:cubicBezTo>
                  <a:pt x="0" y="34110"/>
                  <a:pt x="34110" y="0"/>
                  <a:pt x="7618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609539" y="17142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61914" y="1714223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0922" y="1790388"/>
            <a:ext cx="83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Directa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539" y="2337697"/>
            <a:ext cx="2540951" cy="247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Mismo curso o curso equivalente.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539" y="2754560"/>
            <a:ext cx="3286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 reconocen el curso y sus créditos sin modificaciones.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8215" y="4686846"/>
            <a:ext cx="3180976" cy="838200"/>
          </a:xfrm>
          <a:custGeom>
            <a:avLst/>
            <a:gdLst/>
            <a:ahLst/>
            <a:cxnLst/>
            <a:rect l="l" t="t" r="r" b="b"/>
            <a:pathLst>
              <a:path w="3180976" h="838200">
                <a:moveTo>
                  <a:pt x="37353" y="0"/>
                </a:moveTo>
                <a:lnTo>
                  <a:pt x="3104776" y="0"/>
                </a:lnTo>
                <a:cubicBezTo>
                  <a:pt x="3146860" y="0"/>
                  <a:pt x="3180976" y="34116"/>
                  <a:pt x="3180976" y="76201"/>
                </a:cubicBezTo>
                <a:lnTo>
                  <a:pt x="3180976" y="761999"/>
                </a:lnTo>
                <a:cubicBezTo>
                  <a:pt x="3180976" y="804084"/>
                  <a:pt x="3146860" y="838200"/>
                  <a:pt x="3104776" y="838200"/>
                </a:cubicBezTo>
                <a:lnTo>
                  <a:pt x="37353" y="838200"/>
                </a:lnTo>
                <a:cubicBezTo>
                  <a:pt x="16723" y="838200"/>
                  <a:pt x="0" y="821477"/>
                  <a:pt x="0" y="80084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8215" y="4686846"/>
            <a:ext cx="37353" cy="838200"/>
          </a:xfrm>
          <a:custGeom>
            <a:avLst/>
            <a:gdLst/>
            <a:ahLst/>
            <a:cxnLst/>
            <a:rect l="l" t="t" r="r" b="b"/>
            <a:pathLst>
              <a:path w="37353" h="838200">
                <a:moveTo>
                  <a:pt x="37353" y="0"/>
                </a:moveTo>
                <a:lnTo>
                  <a:pt x="37353" y="0"/>
                </a:lnTo>
                <a:lnTo>
                  <a:pt x="37353" y="838200"/>
                </a:lnTo>
                <a:lnTo>
                  <a:pt x="37353" y="838200"/>
                </a:lnTo>
                <a:cubicBezTo>
                  <a:pt x="16723" y="838200"/>
                  <a:pt x="0" y="821477"/>
                  <a:pt x="0" y="80084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99222" y="4839177"/>
            <a:ext cx="658235" cy="219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Ejemplo: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9222" y="5105826"/>
            <a:ext cx="2943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Mecánica Clásica → Mecánica Clásica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67136" y="1485656"/>
            <a:ext cx="3657600" cy="4267200"/>
          </a:xfrm>
          <a:custGeom>
            <a:avLst/>
            <a:gdLst/>
            <a:ahLst/>
            <a:cxnLst/>
            <a:rect l="l" t="t" r="r" b="b"/>
            <a:pathLst>
              <a:path w="3657600" h="4267200">
                <a:moveTo>
                  <a:pt x="76188" y="0"/>
                </a:moveTo>
                <a:lnTo>
                  <a:pt x="3581412" y="0"/>
                </a:lnTo>
                <a:cubicBezTo>
                  <a:pt x="3623490" y="0"/>
                  <a:pt x="3657600" y="34110"/>
                  <a:pt x="3657600" y="76188"/>
                </a:cubicBezTo>
                <a:lnTo>
                  <a:pt x="3657600" y="4191012"/>
                </a:lnTo>
                <a:cubicBezTo>
                  <a:pt x="3657600" y="4233090"/>
                  <a:pt x="3623490" y="4267200"/>
                  <a:pt x="3581412" y="4267200"/>
                </a:cubicBezTo>
                <a:lnTo>
                  <a:pt x="76188" y="4267200"/>
                </a:lnTo>
                <a:cubicBezTo>
                  <a:pt x="34110" y="4267200"/>
                  <a:pt x="0" y="4233090"/>
                  <a:pt x="0" y="4191012"/>
                </a:cubicBezTo>
                <a:lnTo>
                  <a:pt x="0" y="76188"/>
                </a:lnTo>
                <a:cubicBezTo>
                  <a:pt x="0" y="34110"/>
                  <a:pt x="34110" y="0"/>
                  <a:pt x="7618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4495704" y="17142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4448079" y="1714223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67087" y="1790388"/>
            <a:ext cx="15906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Como Electivo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95704" y="2337697"/>
            <a:ext cx="2914335" cy="526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 curso deja de ser obligatorio y pasa a valer como electivo.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95704" y="3033101"/>
            <a:ext cx="3286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 reconoce dentro del bloque de electivos del nuevo plan.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14380" y="4686846"/>
            <a:ext cx="3180976" cy="838200"/>
          </a:xfrm>
          <a:custGeom>
            <a:avLst/>
            <a:gdLst/>
            <a:ahLst/>
            <a:cxnLst/>
            <a:rect l="l" t="t" r="r" b="b"/>
            <a:pathLst>
              <a:path w="3180976" h="838200">
                <a:moveTo>
                  <a:pt x="37353" y="0"/>
                </a:moveTo>
                <a:lnTo>
                  <a:pt x="3104776" y="0"/>
                </a:lnTo>
                <a:cubicBezTo>
                  <a:pt x="3146860" y="0"/>
                  <a:pt x="3180976" y="34116"/>
                  <a:pt x="3180976" y="76201"/>
                </a:cubicBezTo>
                <a:lnTo>
                  <a:pt x="3180976" y="761999"/>
                </a:lnTo>
                <a:cubicBezTo>
                  <a:pt x="3180976" y="804084"/>
                  <a:pt x="3146860" y="838200"/>
                  <a:pt x="3104776" y="838200"/>
                </a:cubicBezTo>
                <a:lnTo>
                  <a:pt x="37353" y="838200"/>
                </a:lnTo>
                <a:cubicBezTo>
                  <a:pt x="16723" y="838200"/>
                  <a:pt x="0" y="821477"/>
                  <a:pt x="0" y="80084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4514380" y="4686846"/>
            <a:ext cx="37353" cy="838200"/>
          </a:xfrm>
          <a:custGeom>
            <a:avLst/>
            <a:gdLst/>
            <a:ahLst/>
            <a:cxnLst/>
            <a:rect l="l" t="t" r="r" b="b"/>
            <a:pathLst>
              <a:path w="37353" h="838200">
                <a:moveTo>
                  <a:pt x="37353" y="0"/>
                </a:moveTo>
                <a:lnTo>
                  <a:pt x="37353" y="0"/>
                </a:lnTo>
                <a:lnTo>
                  <a:pt x="37353" y="838200"/>
                </a:lnTo>
                <a:lnTo>
                  <a:pt x="37353" y="838200"/>
                </a:lnTo>
                <a:cubicBezTo>
                  <a:pt x="16723" y="838200"/>
                  <a:pt x="0" y="821477"/>
                  <a:pt x="0" y="80084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4685387" y="4839177"/>
            <a:ext cx="658235" cy="219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Ejemplo: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85387" y="5105826"/>
            <a:ext cx="2943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Física Atómica → Electivo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53301" y="1485656"/>
            <a:ext cx="3657600" cy="4267200"/>
          </a:xfrm>
          <a:custGeom>
            <a:avLst/>
            <a:gdLst/>
            <a:ahLst/>
            <a:cxnLst/>
            <a:rect l="l" t="t" r="r" b="b"/>
            <a:pathLst>
              <a:path w="3657600" h="4267200">
                <a:moveTo>
                  <a:pt x="76188" y="0"/>
                </a:moveTo>
                <a:lnTo>
                  <a:pt x="3581412" y="0"/>
                </a:lnTo>
                <a:cubicBezTo>
                  <a:pt x="3623490" y="0"/>
                  <a:pt x="3657600" y="34110"/>
                  <a:pt x="3657600" y="76188"/>
                </a:cubicBezTo>
                <a:lnTo>
                  <a:pt x="3657600" y="4191012"/>
                </a:lnTo>
                <a:cubicBezTo>
                  <a:pt x="3657600" y="4233090"/>
                  <a:pt x="3623490" y="4267200"/>
                  <a:pt x="3581412" y="4267200"/>
                </a:cubicBezTo>
                <a:lnTo>
                  <a:pt x="76188" y="4267200"/>
                </a:lnTo>
                <a:cubicBezTo>
                  <a:pt x="34110" y="4267200"/>
                  <a:pt x="0" y="4233090"/>
                  <a:pt x="0" y="4191012"/>
                </a:cubicBezTo>
                <a:lnTo>
                  <a:pt x="0" y="76188"/>
                </a:lnTo>
                <a:cubicBezTo>
                  <a:pt x="0" y="34110"/>
                  <a:pt x="34110" y="0"/>
                  <a:pt x="7618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7" name="Shape 25"/>
          <p:cNvSpPr/>
          <p:nvPr/>
        </p:nvSpPr>
        <p:spPr>
          <a:xfrm>
            <a:off x="8381869" y="17142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8334244" y="1714223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53252" y="1790388"/>
            <a:ext cx="2562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Equivalencia Compuesta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81869" y="2337697"/>
            <a:ext cx="3064330" cy="526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 curso antiguo se divide en dos cursos del plan nuevo.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81869" y="3033101"/>
            <a:ext cx="3286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 reconoce según la equivalencia aprobada por la coordinación.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400545" y="4420198"/>
            <a:ext cx="3180976" cy="1104900"/>
          </a:xfrm>
          <a:custGeom>
            <a:avLst/>
            <a:gdLst/>
            <a:ahLst/>
            <a:cxnLst/>
            <a:rect l="l" t="t" r="r" b="b"/>
            <a:pathLst>
              <a:path w="3180976" h="1104900">
                <a:moveTo>
                  <a:pt x="37353" y="0"/>
                </a:moveTo>
                <a:lnTo>
                  <a:pt x="3104772" y="0"/>
                </a:lnTo>
                <a:cubicBezTo>
                  <a:pt x="3146858" y="0"/>
                  <a:pt x="3180976" y="34118"/>
                  <a:pt x="3180976" y="76205"/>
                </a:cubicBezTo>
                <a:lnTo>
                  <a:pt x="3180976" y="1028695"/>
                </a:lnTo>
                <a:cubicBezTo>
                  <a:pt x="3180976" y="1070782"/>
                  <a:pt x="3146858" y="1104900"/>
                  <a:pt x="3104772" y="1104900"/>
                </a:cubicBezTo>
                <a:lnTo>
                  <a:pt x="37353" y="1104900"/>
                </a:lnTo>
                <a:cubicBezTo>
                  <a:pt x="16723" y="1104900"/>
                  <a:pt x="0" y="1088177"/>
                  <a:pt x="0" y="1067547"/>
                </a:cubicBezTo>
                <a:lnTo>
                  <a:pt x="0" y="37353"/>
                </a:lnTo>
                <a:cubicBezTo>
                  <a:pt x="0" y="16737"/>
                  <a:pt x="16737" y="0"/>
                  <a:pt x="3735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400545" y="4420198"/>
            <a:ext cx="37353" cy="1104900"/>
          </a:xfrm>
          <a:custGeom>
            <a:avLst/>
            <a:gdLst/>
            <a:ahLst/>
            <a:cxnLst/>
            <a:rect l="l" t="t" r="r" b="b"/>
            <a:pathLst>
              <a:path w="37353" h="1104900">
                <a:moveTo>
                  <a:pt x="37353" y="0"/>
                </a:moveTo>
                <a:lnTo>
                  <a:pt x="37353" y="0"/>
                </a:lnTo>
                <a:lnTo>
                  <a:pt x="37353" y="1104900"/>
                </a:lnTo>
                <a:lnTo>
                  <a:pt x="37353" y="1104900"/>
                </a:lnTo>
                <a:cubicBezTo>
                  <a:pt x="16723" y="1104900"/>
                  <a:pt x="0" y="1088177"/>
                  <a:pt x="0" y="106754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8571552" y="4572523"/>
            <a:ext cx="658235" cy="219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Ejemplo: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71552" y="4839177"/>
            <a:ext cx="29432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Seminario de Tesis → Seminario de Tesis 1 y 2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0971" y="5905702"/>
            <a:ext cx="11430000" cy="571500"/>
          </a:xfrm>
          <a:custGeom>
            <a:avLst/>
            <a:gdLst/>
            <a:ahLst/>
            <a:cxnLst/>
            <a:rect l="l" t="t" r="r" b="b"/>
            <a:pathLst>
              <a:path w="11430000" h="571500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495302"/>
                </a:lnTo>
                <a:cubicBezTo>
                  <a:pt x="11430000" y="537385"/>
                  <a:pt x="11395885" y="571500"/>
                  <a:pt x="113538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557113" y="60961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885673" y="6058033"/>
            <a:ext cx="7905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Todas las convalidaciones deben ser evaluadas y aprobadas por la Escuela de Posgrado según la tabla oficial.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311" y="410766"/>
            <a:ext cx="349964" cy="34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34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04316" y="378312"/>
            <a:ext cx="3972568" cy="378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81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Tabla de Convalidaciones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8311" y="832255"/>
            <a:ext cx="605344" cy="37834"/>
          </a:xfrm>
          <a:custGeom>
            <a:avLst/>
            <a:gdLst/>
            <a:ahLst/>
            <a:cxnLst/>
            <a:rect l="l" t="t" r="r" b="b"/>
            <a:pathLst>
              <a:path w="605344" h="37834">
                <a:moveTo>
                  <a:pt x="0" y="0"/>
                </a:moveTo>
                <a:lnTo>
                  <a:pt x="605344" y="0"/>
                </a:lnTo>
                <a:lnTo>
                  <a:pt x="605344" y="37834"/>
                </a:lnTo>
                <a:lnTo>
                  <a:pt x="0" y="37834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78311" y="983522"/>
            <a:ext cx="11520447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Equivalencias aprobadas entre el plan antiguo y el nuevo plan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8311" y="1475280"/>
            <a:ext cx="11435320" cy="5003544"/>
          </a:xfrm>
          <a:custGeom>
            <a:avLst/>
            <a:gdLst/>
            <a:ahLst/>
            <a:cxnLst/>
            <a:rect l="l" t="t" r="r" b="b"/>
            <a:pathLst>
              <a:path w="11435320" h="5003544">
                <a:moveTo>
                  <a:pt x="75654" y="0"/>
                </a:moveTo>
                <a:lnTo>
                  <a:pt x="11359667" y="0"/>
                </a:lnTo>
                <a:cubicBezTo>
                  <a:pt x="11401449" y="0"/>
                  <a:pt x="11435320" y="33871"/>
                  <a:pt x="11435320" y="75654"/>
                </a:cubicBezTo>
                <a:lnTo>
                  <a:pt x="11435320" y="4927890"/>
                </a:lnTo>
                <a:cubicBezTo>
                  <a:pt x="11435320" y="4969673"/>
                  <a:pt x="11401449" y="5003544"/>
                  <a:pt x="11359667" y="5003544"/>
                </a:cubicBezTo>
                <a:lnTo>
                  <a:pt x="75654" y="5003544"/>
                </a:lnTo>
                <a:cubicBezTo>
                  <a:pt x="33871" y="5003544"/>
                  <a:pt x="0" y="4969673"/>
                  <a:pt x="0" y="4927890"/>
                </a:cubicBezTo>
                <a:lnTo>
                  <a:pt x="0" y="75654"/>
                </a:lnTo>
                <a:cubicBezTo>
                  <a:pt x="0" y="33871"/>
                  <a:pt x="33871" y="0"/>
                  <a:pt x="75654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5641410" y="1777888"/>
            <a:ext cx="908016" cy="908016"/>
          </a:xfrm>
          <a:custGeom>
            <a:avLst/>
            <a:gdLst/>
            <a:ahLst/>
            <a:cxnLst/>
            <a:rect l="l" t="t" r="r" b="b"/>
            <a:pathLst>
              <a:path w="908016" h="908016">
                <a:moveTo>
                  <a:pt x="454008" y="0"/>
                </a:moveTo>
                <a:lnTo>
                  <a:pt x="454008" y="0"/>
                </a:lnTo>
                <a:cubicBezTo>
                  <a:pt x="704581" y="0"/>
                  <a:pt x="908016" y="203434"/>
                  <a:pt x="908016" y="454008"/>
                </a:cubicBezTo>
                <a:lnTo>
                  <a:pt x="908016" y="454008"/>
                </a:lnTo>
                <a:cubicBezTo>
                  <a:pt x="908016" y="704581"/>
                  <a:pt x="704581" y="908016"/>
                  <a:pt x="454008" y="908016"/>
                </a:cubicBezTo>
                <a:lnTo>
                  <a:pt x="454008" y="908016"/>
                </a:lnTo>
                <a:cubicBezTo>
                  <a:pt x="203434" y="908016"/>
                  <a:pt x="0" y="704581"/>
                  <a:pt x="0" y="454008"/>
                </a:cubicBezTo>
                <a:lnTo>
                  <a:pt x="0" y="454008"/>
                </a:lnTo>
                <a:cubicBezTo>
                  <a:pt x="0" y="203434"/>
                  <a:pt x="203434" y="0"/>
                  <a:pt x="45400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Shape 6"/>
          <p:cNvSpPr/>
          <p:nvPr/>
        </p:nvSpPr>
        <p:spPr>
          <a:xfrm>
            <a:off x="5896783" y="2004859"/>
            <a:ext cx="397257" cy="454008"/>
          </a:xfrm>
          <a:custGeom>
            <a:avLst/>
            <a:gdLst/>
            <a:ahLst/>
            <a:cxnLst/>
            <a:rect l="l" t="t" r="r" b="b"/>
            <a:pathLst>
              <a:path w="397257" h="454008">
                <a:moveTo>
                  <a:pt x="227004" y="141877"/>
                </a:moveTo>
                <a:lnTo>
                  <a:pt x="227004" y="227004"/>
                </a:lnTo>
                <a:lnTo>
                  <a:pt x="340506" y="227004"/>
                </a:lnTo>
                <a:lnTo>
                  <a:pt x="340506" y="141877"/>
                </a:lnTo>
                <a:lnTo>
                  <a:pt x="227004" y="141877"/>
                </a:lnTo>
                <a:close/>
                <a:moveTo>
                  <a:pt x="170253" y="141877"/>
                </a:moveTo>
                <a:lnTo>
                  <a:pt x="56751" y="141877"/>
                </a:lnTo>
                <a:lnTo>
                  <a:pt x="56751" y="227004"/>
                </a:lnTo>
                <a:lnTo>
                  <a:pt x="170253" y="227004"/>
                </a:lnTo>
                <a:lnTo>
                  <a:pt x="170253" y="141877"/>
                </a:lnTo>
                <a:close/>
                <a:moveTo>
                  <a:pt x="0" y="283755"/>
                </a:moveTo>
                <a:lnTo>
                  <a:pt x="0" y="85126"/>
                </a:lnTo>
                <a:cubicBezTo>
                  <a:pt x="0" y="53825"/>
                  <a:pt x="25449" y="28375"/>
                  <a:pt x="56751" y="28375"/>
                </a:cubicBezTo>
                <a:lnTo>
                  <a:pt x="340506" y="28375"/>
                </a:lnTo>
                <a:cubicBezTo>
                  <a:pt x="371808" y="28375"/>
                  <a:pt x="397257" y="53825"/>
                  <a:pt x="397257" y="85126"/>
                </a:cubicBezTo>
                <a:lnTo>
                  <a:pt x="397257" y="368881"/>
                </a:lnTo>
                <a:cubicBezTo>
                  <a:pt x="397257" y="400183"/>
                  <a:pt x="371808" y="425632"/>
                  <a:pt x="340506" y="425632"/>
                </a:cubicBezTo>
                <a:lnTo>
                  <a:pt x="56751" y="425632"/>
                </a:lnTo>
                <a:cubicBezTo>
                  <a:pt x="25449" y="425632"/>
                  <a:pt x="0" y="400183"/>
                  <a:pt x="0" y="368881"/>
                </a:cubicBezTo>
                <a:lnTo>
                  <a:pt x="0" y="283755"/>
                </a:lnTo>
                <a:close/>
                <a:moveTo>
                  <a:pt x="340506" y="283755"/>
                </a:moveTo>
                <a:lnTo>
                  <a:pt x="227004" y="283755"/>
                </a:lnTo>
                <a:lnTo>
                  <a:pt x="227004" y="368881"/>
                </a:lnTo>
                <a:lnTo>
                  <a:pt x="340506" y="368881"/>
                </a:lnTo>
                <a:lnTo>
                  <a:pt x="340506" y="283755"/>
                </a:lnTo>
                <a:close/>
                <a:moveTo>
                  <a:pt x="170253" y="368881"/>
                </a:moveTo>
                <a:lnTo>
                  <a:pt x="170253" y="283755"/>
                </a:lnTo>
                <a:lnTo>
                  <a:pt x="56751" y="283755"/>
                </a:lnTo>
                <a:lnTo>
                  <a:pt x="56751" y="368881"/>
                </a:lnTo>
                <a:lnTo>
                  <a:pt x="170253" y="36888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2392428" y="2912819"/>
            <a:ext cx="7406002" cy="34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3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Tabla Completa de Convalidaciones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16075" y="3404582"/>
            <a:ext cx="7358709" cy="614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9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Documento oficial que establece las equivalencias entre cursos del plan antiguo y el nuevo plan de estudios.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20804" y="4170476"/>
            <a:ext cx="7349251" cy="52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Incluye todos los cursos con sus respectivos tipos de convalidación: directa, como electivo, o equivalencia compuesta.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62887" y="4927026"/>
            <a:ext cx="2865924" cy="870182"/>
          </a:xfrm>
          <a:custGeom>
            <a:avLst/>
            <a:gdLst/>
            <a:ahLst/>
            <a:cxnLst/>
            <a:rect l="l" t="t" r="r" b="b"/>
            <a:pathLst>
              <a:path w="2865924" h="870182">
                <a:moveTo>
                  <a:pt x="75671" y="0"/>
                </a:moveTo>
                <a:lnTo>
                  <a:pt x="2790253" y="0"/>
                </a:lnTo>
                <a:cubicBezTo>
                  <a:pt x="2832045" y="0"/>
                  <a:pt x="2865924" y="33879"/>
                  <a:pt x="2865924" y="75671"/>
                </a:cubicBezTo>
                <a:lnTo>
                  <a:pt x="2865924" y="794511"/>
                </a:lnTo>
                <a:cubicBezTo>
                  <a:pt x="2865924" y="836302"/>
                  <a:pt x="2832045" y="870182"/>
                  <a:pt x="2790253" y="870182"/>
                </a:cubicBezTo>
                <a:lnTo>
                  <a:pt x="75671" y="870182"/>
                </a:lnTo>
                <a:cubicBezTo>
                  <a:pt x="33879" y="870182"/>
                  <a:pt x="0" y="836302"/>
                  <a:pt x="0" y="794511"/>
                </a:cubicBezTo>
                <a:lnTo>
                  <a:pt x="0" y="75671"/>
                </a:lnTo>
                <a:cubicBezTo>
                  <a:pt x="0" y="33907"/>
                  <a:pt x="33907" y="0"/>
                  <a:pt x="75671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771590" y="5078293"/>
            <a:ext cx="2648379" cy="264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41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Figura 2: Tabla de Convalidaciones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76320" y="5418711"/>
            <a:ext cx="2638920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Imagen3.jpg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25533" y="5948216"/>
            <a:ext cx="7339792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2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(Imagen original del documento fuente)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47022" y="6666877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37834" y="0"/>
                </a:moveTo>
                <a:lnTo>
                  <a:pt x="113502" y="0"/>
                </a:lnTo>
                <a:cubicBezTo>
                  <a:pt x="134383" y="0"/>
                  <a:pt x="151336" y="16953"/>
                  <a:pt x="151336" y="37834"/>
                </a:cubicBezTo>
                <a:lnTo>
                  <a:pt x="151336" y="113502"/>
                </a:lnTo>
                <a:cubicBezTo>
                  <a:pt x="151336" y="134383"/>
                  <a:pt x="134383" y="151336"/>
                  <a:pt x="113502" y="151336"/>
                </a:cubicBezTo>
                <a:lnTo>
                  <a:pt x="37834" y="151336"/>
                </a:lnTo>
                <a:cubicBezTo>
                  <a:pt x="16953" y="151336"/>
                  <a:pt x="0" y="134383"/>
                  <a:pt x="0" y="113502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4873921" y="6629061"/>
            <a:ext cx="558051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Directa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580990" y="6666877"/>
            <a:ext cx="151336" cy="151336"/>
          </a:xfrm>
          <a:custGeom>
            <a:avLst/>
            <a:gdLst/>
            <a:ahLst/>
            <a:cxnLst/>
            <a:rect l="l" t="t" r="r" b="b"/>
            <a:pathLst>
              <a:path w="151336" h="151336">
                <a:moveTo>
                  <a:pt x="37834" y="0"/>
                </a:moveTo>
                <a:lnTo>
                  <a:pt x="113502" y="0"/>
                </a:lnTo>
                <a:cubicBezTo>
                  <a:pt x="134383" y="0"/>
                  <a:pt x="151336" y="16953"/>
                  <a:pt x="151336" y="37834"/>
                </a:cubicBezTo>
                <a:lnTo>
                  <a:pt x="151336" y="113502"/>
                </a:lnTo>
                <a:cubicBezTo>
                  <a:pt x="151336" y="134383"/>
                  <a:pt x="134383" y="151336"/>
                  <a:pt x="113502" y="151336"/>
                </a:cubicBezTo>
                <a:lnTo>
                  <a:pt x="37834" y="151336"/>
                </a:lnTo>
                <a:cubicBezTo>
                  <a:pt x="16953" y="151336"/>
                  <a:pt x="0" y="134383"/>
                  <a:pt x="0" y="113502"/>
                </a:cubicBezTo>
                <a:lnTo>
                  <a:pt x="0" y="37834"/>
                </a:lnTo>
                <a:cubicBezTo>
                  <a:pt x="0" y="16953"/>
                  <a:pt x="16953" y="0"/>
                  <a:pt x="37834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5807890" y="6629061"/>
            <a:ext cx="605344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Electivo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73422" y="6676150"/>
            <a:ext cx="132048" cy="132048"/>
          </a:xfrm>
          <a:custGeom>
            <a:avLst/>
            <a:gdLst/>
            <a:ahLst/>
            <a:cxnLst/>
            <a:rect l="l" t="t" r="r" b="b"/>
            <a:pathLst>
              <a:path w="132048" h="132048">
                <a:moveTo>
                  <a:pt x="37834" y="0"/>
                </a:moveTo>
                <a:lnTo>
                  <a:pt x="94214" y="0"/>
                </a:lnTo>
                <a:cubicBezTo>
                  <a:pt x="115095" y="0"/>
                  <a:pt x="132048" y="16953"/>
                  <a:pt x="132048" y="37834"/>
                </a:cubicBezTo>
                <a:lnTo>
                  <a:pt x="132048" y="94214"/>
                </a:lnTo>
                <a:cubicBezTo>
                  <a:pt x="132048" y="115095"/>
                  <a:pt x="115095" y="132048"/>
                  <a:pt x="94214" y="132048"/>
                </a:cubicBezTo>
                <a:lnTo>
                  <a:pt x="37834" y="132048"/>
                </a:lnTo>
                <a:cubicBezTo>
                  <a:pt x="16953" y="132048"/>
                  <a:pt x="0" y="115095"/>
                  <a:pt x="0" y="94214"/>
                </a:cubicBezTo>
                <a:lnTo>
                  <a:pt x="0" y="37834"/>
                </a:lnTo>
                <a:cubicBezTo>
                  <a:pt x="0" y="16939"/>
                  <a:pt x="16939" y="0"/>
                  <a:pt x="3783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4902">
            <a:solidFill>
              <a:srgbClr val="8B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91049" y="6629061"/>
            <a:ext cx="832348" cy="227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2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Compuesta</a:t>
            </a:r>
            <a:endParaRPr lang="en-US" sz="16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55D54B8E-7927-81A2-8237-662EF4768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203" y="1514869"/>
            <a:ext cx="8927573" cy="500354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71" y="413654"/>
            <a:ext cx="361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7.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10362" y="380972"/>
            <a:ext cx="60864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Proceso para Solicitar el Cambio de Plan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71" y="83810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80971" y="1066674"/>
            <a:ext cx="5600700" cy="2266950"/>
          </a:xfrm>
          <a:custGeom>
            <a:avLst/>
            <a:gdLst/>
            <a:ahLst/>
            <a:cxnLst/>
            <a:rect l="l" t="t" r="r" b="b"/>
            <a:pathLst>
              <a:path w="5600700" h="2266950">
                <a:moveTo>
                  <a:pt x="76192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2190758"/>
                </a:lnTo>
                <a:cubicBezTo>
                  <a:pt x="5600700" y="2232838"/>
                  <a:pt x="5566588" y="2266950"/>
                  <a:pt x="5524508" y="2266950"/>
                </a:cubicBezTo>
                <a:lnTo>
                  <a:pt x="76192" y="2266950"/>
                </a:lnTo>
                <a:cubicBezTo>
                  <a:pt x="34112" y="2266950"/>
                  <a:pt x="0" y="2232838"/>
                  <a:pt x="0" y="219075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571456" y="1257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533356" y="125716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674" y="1314283"/>
            <a:ext cx="1447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Envío de Correo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456" y="1752377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 alumno debe enviar un correo a la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Escuela de Posgrado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dirigido a: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0133" y="2114234"/>
            <a:ext cx="5200276" cy="685800"/>
          </a:xfrm>
          <a:custGeom>
            <a:avLst/>
            <a:gdLst/>
            <a:ahLst/>
            <a:cxnLst/>
            <a:rect l="l" t="t" r="r" b="b"/>
            <a:pathLst>
              <a:path w="5200276" h="685800">
                <a:moveTo>
                  <a:pt x="37353" y="0"/>
                </a:moveTo>
                <a:lnTo>
                  <a:pt x="5124077" y="0"/>
                </a:lnTo>
                <a:cubicBezTo>
                  <a:pt x="5166161" y="0"/>
                  <a:pt x="5200276" y="34116"/>
                  <a:pt x="5200276" y="76199"/>
                </a:cubicBezTo>
                <a:lnTo>
                  <a:pt x="5200276" y="609601"/>
                </a:lnTo>
                <a:cubicBezTo>
                  <a:pt x="5200276" y="651684"/>
                  <a:pt x="5166161" y="685800"/>
                  <a:pt x="5124077" y="685800"/>
                </a:cubicBezTo>
                <a:lnTo>
                  <a:pt x="37353" y="685800"/>
                </a:lnTo>
                <a:cubicBezTo>
                  <a:pt x="16723" y="685800"/>
                  <a:pt x="0" y="669077"/>
                  <a:pt x="0" y="64844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90133" y="2114234"/>
            <a:ext cx="37353" cy="685800"/>
          </a:xfrm>
          <a:custGeom>
            <a:avLst/>
            <a:gdLst/>
            <a:ahLst/>
            <a:cxnLst/>
            <a:rect l="l" t="t" r="r" b="b"/>
            <a:pathLst>
              <a:path w="37353" h="685800">
                <a:moveTo>
                  <a:pt x="37353" y="0"/>
                </a:moveTo>
                <a:lnTo>
                  <a:pt x="37353" y="0"/>
                </a:lnTo>
                <a:lnTo>
                  <a:pt x="37353" y="685800"/>
                </a:lnTo>
                <a:lnTo>
                  <a:pt x="37353" y="685800"/>
                </a:lnTo>
                <a:cubicBezTo>
                  <a:pt x="16723" y="685800"/>
                  <a:pt x="0" y="669077"/>
                  <a:pt x="0" y="648447"/>
                </a:cubicBezTo>
                <a:lnTo>
                  <a:pt x="0" y="37353"/>
                </a:lnTo>
                <a:cubicBezTo>
                  <a:pt x="0" y="16723"/>
                  <a:pt x="16723" y="0"/>
                  <a:pt x="37353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723057" y="2228483"/>
            <a:ext cx="2188465" cy="219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Ashley Smith Llasaca Delgadillo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3057" y="245705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ashley.llasaca@pucp.edu.pe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456" y="2914110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Informando que desea realizar el cambio al nuevo plan de estudios.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0218" y="1066674"/>
            <a:ext cx="5600700" cy="2266950"/>
          </a:xfrm>
          <a:custGeom>
            <a:avLst/>
            <a:gdLst/>
            <a:ahLst/>
            <a:cxnLst/>
            <a:rect l="l" t="t" r="r" b="b"/>
            <a:pathLst>
              <a:path w="5600700" h="2266950">
                <a:moveTo>
                  <a:pt x="76192" y="0"/>
                </a:moveTo>
                <a:lnTo>
                  <a:pt x="5524508" y="0"/>
                </a:lnTo>
                <a:cubicBezTo>
                  <a:pt x="5566588" y="0"/>
                  <a:pt x="5600700" y="34112"/>
                  <a:pt x="5600700" y="76192"/>
                </a:cubicBezTo>
                <a:lnTo>
                  <a:pt x="5600700" y="2190758"/>
                </a:lnTo>
                <a:cubicBezTo>
                  <a:pt x="5600700" y="2232838"/>
                  <a:pt x="5566588" y="2266950"/>
                  <a:pt x="5524508" y="2266950"/>
                </a:cubicBezTo>
                <a:lnTo>
                  <a:pt x="76192" y="2266950"/>
                </a:lnTo>
                <a:cubicBezTo>
                  <a:pt x="34112" y="2266950"/>
                  <a:pt x="0" y="2232838"/>
                  <a:pt x="0" y="219075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703" y="125716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362603" y="1257160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95922" y="1314283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Revisión de Tabla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703" y="1752377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Antes de solicitar el cambio, el alumno debe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revisar la tabla de convalidaciones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y comprender las equivalencias correspondientes.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0971" y="3561731"/>
            <a:ext cx="5600700" cy="1371600"/>
          </a:xfrm>
          <a:custGeom>
            <a:avLst/>
            <a:gdLst/>
            <a:ahLst/>
            <a:cxnLst/>
            <a:rect l="l" t="t" r="r" b="b"/>
            <a:pathLst>
              <a:path w="5600700" h="1371600">
                <a:moveTo>
                  <a:pt x="76206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295394"/>
                </a:lnTo>
                <a:cubicBezTo>
                  <a:pt x="5600700" y="1337481"/>
                  <a:pt x="5566581" y="1371600"/>
                  <a:pt x="552449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456" y="375221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33356" y="3752217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66674" y="3809344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Indicar Cursos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456" y="4247438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 alumno debe indicar en su comunicación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cuáles son los cursos que solicita convalidar o reconocer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de acuerdo con dicha tabla.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10218" y="3561731"/>
            <a:ext cx="5600700" cy="1371600"/>
          </a:xfrm>
          <a:custGeom>
            <a:avLst/>
            <a:gdLst/>
            <a:ahLst/>
            <a:cxnLst/>
            <a:rect l="l" t="t" r="r" b="b"/>
            <a:pathLst>
              <a:path w="5600700" h="1371600">
                <a:moveTo>
                  <a:pt x="76206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295394"/>
                </a:lnTo>
                <a:cubicBezTo>
                  <a:pt x="5600700" y="1337481"/>
                  <a:pt x="5566581" y="1371600"/>
                  <a:pt x="552449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703" y="3752217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362603" y="3752217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95922" y="3809344"/>
            <a:ext cx="1009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Evaluación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703" y="4247438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Escuela de Posgrado evaluará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si corresponde o no aplicar la convalidación de esos cursos, según la tabla aprobada.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0971" y="5123627"/>
            <a:ext cx="5600700" cy="1371600"/>
          </a:xfrm>
          <a:custGeom>
            <a:avLst/>
            <a:gdLst/>
            <a:ahLst/>
            <a:cxnLst/>
            <a:rect l="l" t="t" r="r" b="b"/>
            <a:pathLst>
              <a:path w="5600700" h="1371600">
                <a:moveTo>
                  <a:pt x="76206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295394"/>
                </a:lnTo>
                <a:cubicBezTo>
                  <a:pt x="5600700" y="1337481"/>
                  <a:pt x="5566581" y="1371600"/>
                  <a:pt x="552449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1" name="Shape 29"/>
          <p:cNvSpPr/>
          <p:nvPr/>
        </p:nvSpPr>
        <p:spPr>
          <a:xfrm>
            <a:off x="571456" y="531411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533356" y="5314113"/>
            <a:ext cx="45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66674" y="5371235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Confirmación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71456" y="5809329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Una vez confirmada la aplicación de las convalidaciones, el alumno podrá </a:t>
            </a:r>
            <a:r>
              <a:rPr lang="en-US" sz="12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incorporarse al nuevo plan de estudios</a:t>
            </a:r>
            <a:r>
              <a:rPr lang="en-US" sz="12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0218" y="5123627"/>
            <a:ext cx="5600700" cy="1371600"/>
          </a:xfrm>
          <a:custGeom>
            <a:avLst/>
            <a:gdLst/>
            <a:ahLst/>
            <a:cxnLst/>
            <a:rect l="l" t="t" r="r" b="b"/>
            <a:pathLst>
              <a:path w="5600700" h="1371600">
                <a:moveTo>
                  <a:pt x="76206" y="0"/>
                </a:moveTo>
                <a:lnTo>
                  <a:pt x="5524494" y="0"/>
                </a:lnTo>
                <a:cubicBezTo>
                  <a:pt x="5566581" y="0"/>
                  <a:pt x="5600700" y="34119"/>
                  <a:pt x="5600700" y="76206"/>
                </a:cubicBezTo>
                <a:lnTo>
                  <a:pt x="5600700" y="1295394"/>
                </a:lnTo>
                <a:cubicBezTo>
                  <a:pt x="5600700" y="1337481"/>
                  <a:pt x="5566581" y="1371600"/>
                  <a:pt x="552449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429278" y="533315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800643" y="5314113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Responsabilidad del Alumno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00703" y="5695011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Debe recordarse que el cambio del plan antiguo al plan nuevo es una </a:t>
            </a:r>
            <a:r>
              <a:rPr lang="en-US" sz="1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decisión y una responsabilidad del alumno</a:t>
            </a:r>
            <a:r>
              <a:rPr lang="en-US" sz="120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71" y="413658"/>
            <a:ext cx="3619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8.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10071" y="380972"/>
            <a:ext cx="7562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Escenario de Transición para Alumnos Avanzados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0971" y="838107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0" y="0"/>
                </a:moveTo>
                <a:lnTo>
                  <a:pt x="609600" y="0"/>
                </a:lnTo>
                <a:lnTo>
                  <a:pt x="609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5" name="Text 3"/>
          <p:cNvSpPr/>
          <p:nvPr/>
        </p:nvSpPr>
        <p:spPr>
          <a:xfrm>
            <a:off x="380971" y="990437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Durante el semestre 2026-1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0971" y="1450567"/>
            <a:ext cx="11430000" cy="1000125"/>
          </a:xfrm>
          <a:custGeom>
            <a:avLst/>
            <a:gdLst/>
            <a:ahLst/>
            <a:cxnLst/>
            <a:rect l="l" t="t" r="r" b="b"/>
            <a:pathLst>
              <a:path w="11430000" h="1000125">
                <a:moveTo>
                  <a:pt x="76200" y="0"/>
                </a:moveTo>
                <a:lnTo>
                  <a:pt x="11353800" y="0"/>
                </a:lnTo>
                <a:cubicBezTo>
                  <a:pt x="11395884" y="0"/>
                  <a:pt x="11430000" y="34116"/>
                  <a:pt x="11430000" y="76200"/>
                </a:cubicBezTo>
                <a:lnTo>
                  <a:pt x="11430000" y="923925"/>
                </a:lnTo>
                <a:cubicBezTo>
                  <a:pt x="11430000" y="966009"/>
                  <a:pt x="11395884" y="1000125"/>
                  <a:pt x="11353800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7" name="Shape 5"/>
          <p:cNvSpPr/>
          <p:nvPr/>
        </p:nvSpPr>
        <p:spPr>
          <a:xfrm>
            <a:off x="571456" y="164104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523831" y="1641049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0922" y="1641049"/>
            <a:ext cx="10534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Matrícula en Seminario de Tesis (Plan Antiguo)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0922" y="1983865"/>
            <a:ext cx="105251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 estudiante puede matricularse en 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Seminario de Tesis del plan antiguo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siempre que cuente con la </a:t>
            </a:r>
            <a:r>
              <a:rPr lang="en-US" sz="135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conformidad de su asesor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0971" y="2605222"/>
            <a:ext cx="11430000" cy="1000125"/>
          </a:xfrm>
          <a:custGeom>
            <a:avLst/>
            <a:gdLst/>
            <a:ahLst/>
            <a:cxnLst/>
            <a:rect l="l" t="t" r="r" b="b"/>
            <a:pathLst>
              <a:path w="11430000" h="1000125">
                <a:moveTo>
                  <a:pt x="76200" y="0"/>
                </a:moveTo>
                <a:lnTo>
                  <a:pt x="11353800" y="0"/>
                </a:lnTo>
                <a:cubicBezTo>
                  <a:pt x="11395884" y="0"/>
                  <a:pt x="11430000" y="34116"/>
                  <a:pt x="11430000" y="76200"/>
                </a:cubicBezTo>
                <a:lnTo>
                  <a:pt x="11430000" y="923925"/>
                </a:lnTo>
                <a:cubicBezTo>
                  <a:pt x="11430000" y="966009"/>
                  <a:pt x="11395884" y="1000125"/>
                  <a:pt x="11353800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456" y="279570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523831" y="279570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0922" y="2795708"/>
            <a:ext cx="10534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Aprobación según Avance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0922" y="3138525"/>
            <a:ext cx="105251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 aprobación del curso dependerá del 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avance realizado en el trabajo de tesis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y de la evaluación del asesor.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0971" y="3759882"/>
            <a:ext cx="11430000" cy="1276350"/>
          </a:xfrm>
          <a:custGeom>
            <a:avLst/>
            <a:gdLst/>
            <a:ahLst/>
            <a:cxnLst/>
            <a:rect l="l" t="t" r="r" b="b"/>
            <a:pathLst>
              <a:path w="11430000" h="1276350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1200152"/>
                </a:lnTo>
                <a:cubicBezTo>
                  <a:pt x="11430000" y="1242235"/>
                  <a:pt x="11395885" y="1276350"/>
                  <a:pt x="11353802" y="1276350"/>
                </a:cubicBezTo>
                <a:lnTo>
                  <a:pt x="76198" y="1276350"/>
                </a:lnTo>
                <a:cubicBezTo>
                  <a:pt x="34115" y="1276350"/>
                  <a:pt x="0" y="1242235"/>
                  <a:pt x="0" y="12001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71456" y="395036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23831" y="3950368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0922" y="3950368"/>
            <a:ext cx="10534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Reconocimiento mediante Equivalencia Compuesta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80922" y="4293184"/>
            <a:ext cx="10525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Una vez aprobado, ese curso podría reconocerse en el nuevo plan mediante </a:t>
            </a:r>
            <a:r>
              <a:rPr lang="en-US" sz="13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equivalencia compuesta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como </a:t>
            </a:r>
            <a:r>
              <a:rPr lang="en-US" sz="1350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Seminario de Tesis 1 y Seminario de Tesis 2</a:t>
            </a:r>
            <a:r>
              <a:rPr lang="en-US" sz="135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0971" y="5193083"/>
            <a:ext cx="11430000" cy="1276350"/>
          </a:xfrm>
          <a:custGeom>
            <a:avLst/>
            <a:gdLst/>
            <a:ahLst/>
            <a:cxnLst/>
            <a:rect l="l" t="t" r="r" b="b"/>
            <a:pathLst>
              <a:path w="11430000" h="1276350">
                <a:moveTo>
                  <a:pt x="76198" y="0"/>
                </a:moveTo>
                <a:lnTo>
                  <a:pt x="11353802" y="0"/>
                </a:lnTo>
                <a:cubicBezTo>
                  <a:pt x="11395885" y="0"/>
                  <a:pt x="11430000" y="34115"/>
                  <a:pt x="11430000" y="76198"/>
                </a:cubicBezTo>
                <a:lnTo>
                  <a:pt x="11430000" y="1200152"/>
                </a:lnTo>
                <a:cubicBezTo>
                  <a:pt x="11430000" y="1242235"/>
                  <a:pt x="11395885" y="1276350"/>
                  <a:pt x="11353802" y="1276350"/>
                </a:cubicBezTo>
                <a:lnTo>
                  <a:pt x="76198" y="1276350"/>
                </a:lnTo>
                <a:cubicBezTo>
                  <a:pt x="34115" y="1276350"/>
                  <a:pt x="0" y="1242235"/>
                  <a:pt x="0" y="12001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645275" y="5421650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80974" y="5383569"/>
            <a:ext cx="10639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Beneficio para Estudiantes Avanzados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80974" y="5726381"/>
            <a:ext cx="106299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 este modo, algunos estudiantes avanzados podrían </a:t>
            </a:r>
            <a:r>
              <a:rPr lang="en-US" sz="135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incorporarse al nuevo plan sin necesidad de llevar nuevamente ambos seminarios por separado</a:t>
            </a:r>
            <a:r>
              <a:rPr lang="en-US" sz="1350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 Esta posibilidad debe evaluarse en cada caso, de común acuerdo entre el estudiante y su asesor.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941</Words>
  <Application>Microsoft Office PowerPoint</Application>
  <PresentationFormat>Panorámica</PresentationFormat>
  <Paragraphs>140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Sorts Mill Goudy</vt:lpstr>
      <vt:lpstr>Custom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Cambio de Plan de Estudios</dc:title>
  <dc:subject>Cambio de Plan de Estudios</dc:subject>
  <dc:creator>Kimi</dc:creator>
  <cp:lastModifiedBy>eduardo massoni</cp:lastModifiedBy>
  <cp:revision>3</cp:revision>
  <dcterms:created xsi:type="dcterms:W3CDTF">2026-03-11T18:47:45Z</dcterms:created>
  <dcterms:modified xsi:type="dcterms:W3CDTF">2026-03-27T18:16:58Z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{"Label":"Cambio de Plan de Estudios","ContentProducer":"001191110108MACG2KBH8F10000","ProduceID":"19cde375-eaf2-870c-8000-000091a6e0f5","ReservedCode1":"","ContentPropagator":"001191110108MACG2KBH8F20000","PropagateID":"19cde375-eaf2-870c-8000-000091a6e0f5","ReservedCode2":""}</vt:lpwstr>
  </property>
</Properties>
</file>